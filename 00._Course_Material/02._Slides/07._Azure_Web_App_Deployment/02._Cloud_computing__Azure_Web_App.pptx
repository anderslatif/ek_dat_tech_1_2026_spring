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media/image2.png" ContentType="image/png"/>
  <Override PartName="/ppt/media/image25.png" ContentType="image/png"/>
  <Override PartName="/ppt/media/image12.png" ContentType="image/png"/>
  <Override PartName="/ppt/media/image43.png" ContentType="image/png"/>
  <Override PartName="/ppt/media/image10.png" ContentType="image/png"/>
  <Override PartName="/ppt/media/image41.png" ContentType="image/png"/>
  <Override PartName="/ppt/media/image3.png" ContentType="image/png"/>
  <Override PartName="/ppt/media/image26.png" ContentType="image/png"/>
  <Override PartName="/ppt/media/image13.png" ContentType="image/png"/>
  <Override PartName="/ppt/media/image44.png" ContentType="image/png"/>
  <Override PartName="/ppt/media/image11.png" ContentType="image/png"/>
  <Override PartName="/ppt/media/image42.png" ContentType="image/png"/>
  <Override PartName="/ppt/media/image1.png" ContentType="image/png"/>
  <Override PartName="/ppt/media/image24.png" ContentType="image/png"/>
  <Override PartName="/ppt/media/image4.png" ContentType="image/png"/>
  <Override PartName="/ppt/media/image27.png" ContentType="image/png"/>
  <Override PartName="/ppt/media/image14.png" ContentType="image/png"/>
  <Override PartName="/ppt/media/image45.png" ContentType="image/png"/>
  <Override PartName="/ppt/media/image5.png" ContentType="image/png"/>
  <Override PartName="/ppt/media/image28.png" ContentType="image/png"/>
  <Override PartName="/ppt/media/image15.png" ContentType="image/png"/>
  <Override PartName="/ppt/media/image16.png" ContentType="image/png"/>
  <Override PartName="/ppt/media/image7.png" ContentType="image/png"/>
  <Override PartName="/ppt/media/image17.png" ContentType="image/png"/>
  <Override PartName="/ppt/media/image8.png" ContentType="image/png"/>
  <Override PartName="/ppt/media/image18.png" ContentType="image/png"/>
  <Override PartName="/ppt/media/image20.png" ContentType="image/png"/>
  <Override PartName="/ppt/media/image9.png" ContentType="image/png"/>
  <Override PartName="/ppt/media/image19.png" ContentType="image/png"/>
  <Override PartName="/ppt/media/image21.png" ContentType="image/png"/>
  <Override PartName="/ppt/media/image22.png" ContentType="image/png"/>
  <Override PartName="/ppt/media/image23.png" ContentType="image/png"/>
  <Override PartName="/ppt/media/image30.png" ContentType="image/png"/>
  <Override PartName="/ppt/media/image6.png" ContentType="image/png"/>
  <Override PartName="/ppt/media/image29.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7.png" ContentType="image/png"/>
  <Override PartName="/ppt/media/image38.png" ContentType="image/png"/>
  <Override PartName="/ppt/media/image40.png" ContentType="image/png"/>
  <Override PartName="/ppt/media/image39.png" ContentType="image/png"/>
  <Override PartName="/ppt/media/image36.png" ContentType="image/png"/>
  <Override PartName="/ppt/_rels/presentation.xml.rels" ContentType="application/vnd.openxmlformats-package.relationships+xml"/>
  <Override PartName="/ppt/slideLayouts/_rels/slideLayout36.xml.rels" ContentType="application/vnd.openxmlformats-package.relationships+xml"/>
  <Override PartName="/ppt/slideLayouts/_rels/slideLayout35.xml.rels" ContentType="application/vnd.openxmlformats-package.relationships+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32.xml.rels" ContentType="application/vnd.openxmlformats-package.relationships+xml"/>
  <Override PartName="/ppt/slideLayouts/_rels/slideLayout31.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5.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22.xml.rels" ContentType="application/vnd.openxmlformats-package.relationships+xml"/>
  <Override PartName="/ppt/slideLayouts/_rels/slideLayout13.xml.rels" ContentType="application/vnd.openxmlformats-package.relationships+xml"/>
  <Override PartName="/ppt/slideLayouts/_rels/slideLayout21.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20.xml.rels" ContentType="application/vnd.openxmlformats-package.relationships+xml"/>
  <Override PartName="/ppt/slideLayouts/_rels/slideLayout7.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23.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19.xml.rels" ContentType="application/vnd.openxmlformats-package.relationships+xml"/>
  <Override PartName="/ppt/slideLayouts/_rels/slideLayout4.xml.rels" ContentType="application/vnd.openxmlformats-package.relationships+xml"/>
  <Override PartName="/ppt/slideLayouts/_rels/slideLayout25.xml.rels" ContentType="application/vnd.openxmlformats-package.relationships+xml"/>
  <Override PartName="/ppt/slideLayouts/_rels/slideLayout2.xml.rels" ContentType="application/vnd.openxmlformats-package.relationships+xml"/>
  <Override PartName="/ppt/slideLayouts/_rels/slideLayout6.xml.rels" ContentType="application/vnd.openxmlformats-package.relationships+xml"/>
  <Override PartName="/ppt/slideLayouts/_rels/slideLayout11.xml.rels" ContentType="application/vnd.openxmlformats-package.relationships+xml"/>
  <Override PartName="/ppt/slideLayouts/_rels/slideLayout18.xml.rels" ContentType="application/vnd.openxmlformats-package.relationships+xml"/>
  <Override PartName="/ppt/slideLayouts/_rels/slideLayout3.xml.rels" ContentType="application/vnd.openxmlformats-package.relationships+xml"/>
  <Override PartName="/ppt/slideLayouts/_rels/slideLayout2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4.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25.xml" ContentType="application/vnd.openxmlformats-officedocument.presentationml.slideLayout+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26.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8.xml" ContentType="application/vnd.openxmlformats-officedocument.presentationml.slideLayout+xml"/>
  <Override PartName="/ppt/slideLayouts/slideLayout5.xml" ContentType="application/vnd.openxmlformats-officedocument.presentationml.slideLayout+xml"/>
  <Override PartName="/ppt/slideLayouts/slideLayout2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2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_rels/slide40.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16.xml.rels" ContentType="application/vnd.openxmlformats-package.relationships+xml"/>
  <Override PartName="/ppt/slides/_rels/slide47.xml.rels" ContentType="application/vnd.openxmlformats-package.relationships+xml"/>
  <Override PartName="/ppt/slides/_rels/slide17.xml.rels" ContentType="application/vnd.openxmlformats-package.relationships+xml"/>
  <Override PartName="/ppt/slides/_rels/slide15.xml.rels" ContentType="application/vnd.openxmlformats-package.relationships+xml"/>
  <Override PartName="/ppt/slides/_rels/slide46.xml.rels" ContentType="application/vnd.openxmlformats-package.relationships+xml"/>
  <Override PartName="/ppt/slides/_rels/slide14.xml.rels" ContentType="application/vnd.openxmlformats-package.relationships+xml"/>
  <Override PartName="/ppt/slides/_rels/slide45.xml.rels" ContentType="application/vnd.openxmlformats-package.relationships+xml"/>
  <Override PartName="/ppt/slides/_rels/slide11.xml.rels" ContentType="application/vnd.openxmlformats-package.relationships+xml"/>
  <Override PartName="/ppt/slides/_rels/slide42.xml.rels" ContentType="application/vnd.openxmlformats-package.relationships+xml"/>
  <Override PartName="/ppt/slides/_rels/slide4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43.xml.rels" ContentType="application/vnd.openxmlformats-package.relationships+xml"/>
  <Override PartName="/ppt/slides/_rels/slide39.xml.rels" ContentType="application/vnd.openxmlformats-package.relationships+xml"/>
  <Override PartName="/ppt/slides/_rels/slide10.xml.rels" ContentType="application/vnd.openxmlformats-package.relationships+xml"/>
  <Override PartName="/ppt/slides/_rels/slide41.xml.rels" ContentType="application/vnd.openxmlformats-package.relationships+xml"/>
  <Override PartName="/ppt/slides/_rels/slide38.xml.rels" ContentType="application/vnd.openxmlformats-package.relationships+xml"/>
  <Override PartName="/ppt/slides/_rels/slide1.xml.rels" ContentType="application/vnd.openxmlformats-package.relationships+xml"/>
  <Override PartName="/ppt/slides/slide21.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22.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24.xml" ContentType="application/vnd.openxmlformats-officedocument.presentationml.slide+xml"/>
  <Override PartName="/ppt/slides/slide4.xml" ContentType="application/vnd.openxmlformats-officedocument.presentationml.slide+xml"/>
  <Override PartName="/ppt/slides/slide25.xml" ContentType="application/vnd.openxmlformats-officedocument.presentationml.slide+xml"/>
  <Override PartName="/ppt/slides/slide5.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44.xml" ContentType="application/vnd.openxmlformats-officedocument.presentationml.slide+xml"/>
  <Override PartName="/ppt/slides/slide10.xml" ContentType="application/vnd.openxmlformats-officedocument.presentationml.slide+xml"/>
  <Override PartName="/ppt/slides/slide41.xml" ContentType="application/vnd.openxmlformats-officedocument.presentationml.slide+xml"/>
  <Override PartName="/ppt/slides/slide27.xml" ContentType="application/vnd.openxmlformats-officedocument.presentationml.slide+xml"/>
  <Override PartName="/ppt/slides/slide7.xml" ContentType="application/vnd.openxmlformats-officedocument.presentationml.slide+xml"/>
  <Override PartName="/ppt/slides/slide45.xml" ContentType="application/vnd.openxmlformats-officedocument.presentationml.slide+xml"/>
  <Override PartName="/ppt/slides/slide11.xml" ContentType="application/vnd.openxmlformats-officedocument.presentationml.slide+xml"/>
  <Override PartName="/ppt/slides/slide42.xml" ContentType="application/vnd.openxmlformats-officedocument.presentationml.slide+xml"/>
  <Override PartName="/ppt/slides/slide28.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12.xml" ContentType="application/vnd.openxmlformats-officedocument.presentationml.slide+xml"/>
  <Override PartName="/ppt/slides/slide43.xml" ContentType="application/vnd.openxmlformats-officedocument.presentationml.slide+xml"/>
  <Override PartName="/ppt/slides/slide4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9.xml" ContentType="application/vnd.openxmlformats-officedocument.presentationml.slide+xml"/>
  <Override PartName="/ppt/slides/slide9.xml" ContentType="application/vnd.openxmlformats-officedocument.presentationml.slide+xml"/>
  <Override PartName="/ppt/slides/slide1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4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2A2DB5B6-FE14-4150-B14D-24C9EBDE6694}"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F43EAE3-DFE4-454A-BAE5-7EF46F123F6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B5182F7-4406-4B0C-9B7B-8E316226B8EC}"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7"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66AA45D8-C48C-482E-A9DA-FE208D2CF49D}"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8AD9D7FD-2955-4939-B89F-706756245A36}"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9C446D5-204A-4DE7-AC87-9D92C651F33B}"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7AECC22-87FD-4511-953D-5A78A589802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BD2D339-D0C9-4BB0-BDCC-14F0D1A2A725}"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8E9AD58-7F39-49D7-A9F9-C1C14D558C19}"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4"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C25EF3D-D3E0-423B-A091-757872BC7BBF}"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6"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86CE44DA-CB48-4CE7-8D3E-67D841D61A45}"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3"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4"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A44D99CE-21E6-463E-9391-D37473F58B34}"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3CED98E5-BCF3-47F8-BF84-E200ABAEEE76}" type="slidenum">
              <a:t>&lt;#&gt;</a:t>
            </a:fld>
          </a:p>
        </p:txBody>
      </p:sp>
      <p:sp>
        <p:nvSpPr>
          <p:cNvPr id="3" name="PlaceHolder 2"/>
          <p:cNvSpPr>
            <a:spLocks noGrp="1"/>
          </p:cNvSpPr>
          <p:nvPr>
            <p:ph type="dt" idx="5"/>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3289127E-9B71-4BF0-8B71-E9A6D3A2C87E}" type="slidenum">
              <a:t>&lt;#&gt;</a:t>
            </a:fld>
          </a:p>
        </p:txBody>
      </p:sp>
      <p:sp>
        <p:nvSpPr>
          <p:cNvPr id="5" name="PlaceHolder 4"/>
          <p:cNvSpPr>
            <a:spLocks noGrp="1"/>
          </p:cNvSpPr>
          <p:nvPr>
            <p:ph type="dt" idx="5"/>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C3241D30-6DAE-4029-B3F1-27055FCCD4EB}" type="slidenum">
              <a:t>&lt;#&gt;</a:t>
            </a:fld>
          </a:p>
        </p:txBody>
      </p:sp>
      <p:sp>
        <p:nvSpPr>
          <p:cNvPr id="5" name="PlaceHolder 4"/>
          <p:cNvSpPr>
            <a:spLocks noGrp="1"/>
          </p:cNvSpPr>
          <p:nvPr>
            <p:ph type="dt" idx="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0"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4"/>
          </p:nvPr>
        </p:nvSpPr>
        <p:spPr/>
        <p:txBody>
          <a:bodyPr/>
          <a:p>
            <a:fld id="{7F858F4F-E483-4108-9E00-CA533165C5D9}" type="slidenum">
              <a:t>&lt;#&gt;</a:t>
            </a:fld>
          </a:p>
        </p:txBody>
      </p:sp>
      <p:sp>
        <p:nvSpPr>
          <p:cNvPr id="6" name="PlaceHolder 5"/>
          <p:cNvSpPr>
            <a:spLocks noGrp="1"/>
          </p:cNvSpPr>
          <p:nvPr>
            <p:ph type="dt" idx="5"/>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4"/>
          </p:nvPr>
        </p:nvSpPr>
        <p:spPr/>
        <p:txBody>
          <a:bodyPr/>
          <a:p>
            <a:fld id="{B88EC372-935A-4420-9BA8-CFEEBFC5A6D4}" type="slidenum">
              <a:t>&lt;#&gt;</a:t>
            </a:fld>
          </a:p>
        </p:txBody>
      </p:sp>
      <p:sp>
        <p:nvSpPr>
          <p:cNvPr id="4" name="PlaceHolder 3"/>
          <p:cNvSpPr>
            <a:spLocks noGrp="1"/>
          </p:cNvSpPr>
          <p:nvPr>
            <p:ph type="dt" idx="5"/>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64AC0BEE-4CD2-47CE-B2C3-AB2DE346746D}" type="slidenum">
              <a:t>&lt;#&gt;</a:t>
            </a:fld>
          </a:p>
        </p:txBody>
      </p:sp>
      <p:sp>
        <p:nvSpPr>
          <p:cNvPr id="4" name="PlaceHolder 3"/>
          <p:cNvSpPr>
            <a:spLocks noGrp="1"/>
          </p:cNvSpPr>
          <p:nvPr>
            <p:ph type="dt" idx="5"/>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4"/>
          </p:nvPr>
        </p:nvSpPr>
        <p:spPr/>
        <p:txBody>
          <a:bodyPr/>
          <a:p>
            <a:fld id="{20DA357B-32D5-46E7-A704-96A704DCA5D0}" type="slidenum">
              <a:t>&lt;#&gt;</a:t>
            </a:fld>
          </a:p>
        </p:txBody>
      </p:sp>
      <p:sp>
        <p:nvSpPr>
          <p:cNvPr id="7" name="PlaceHolder 6"/>
          <p:cNvSpPr>
            <a:spLocks noGrp="1"/>
          </p:cNvSpPr>
          <p:nvPr>
            <p:ph type="dt" idx="5"/>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0"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1"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4"/>
          </p:nvPr>
        </p:nvSpPr>
        <p:spPr/>
        <p:txBody>
          <a:bodyPr/>
          <a:p>
            <a:fld id="{6EF67936-9276-4AFC-B8FF-2702EFC0109D}" type="slidenum">
              <a:t>&lt;#&gt;</a:t>
            </a:fld>
          </a:p>
        </p:txBody>
      </p:sp>
      <p:sp>
        <p:nvSpPr>
          <p:cNvPr id="7" name="PlaceHolder 6"/>
          <p:cNvSpPr>
            <a:spLocks noGrp="1"/>
          </p:cNvSpPr>
          <p:nvPr>
            <p:ph type="dt" idx="5"/>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3"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5"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4"/>
          </p:nvPr>
        </p:nvSpPr>
        <p:spPr/>
        <p:txBody>
          <a:bodyPr/>
          <a:p>
            <a:fld id="{398D20EA-32F0-488B-8CCD-1B4CEDC8E406}" type="slidenum">
              <a:t>&lt;#&gt;</a:t>
            </a:fld>
          </a:p>
        </p:txBody>
      </p:sp>
      <p:sp>
        <p:nvSpPr>
          <p:cNvPr id="7" name="PlaceHolder 6"/>
          <p:cNvSpPr>
            <a:spLocks noGrp="1"/>
          </p:cNvSpPr>
          <p:nvPr>
            <p:ph type="dt" idx="5"/>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7"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8"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4"/>
          </p:nvPr>
        </p:nvSpPr>
        <p:spPr/>
        <p:txBody>
          <a:bodyPr/>
          <a:p>
            <a:fld id="{0ACB49B5-4F1E-4CDE-B405-AC4F06790D9B}" type="slidenum">
              <a:t>&lt;#&gt;</a:t>
            </a:fld>
          </a:p>
        </p:txBody>
      </p:sp>
      <p:sp>
        <p:nvSpPr>
          <p:cNvPr id="6" name="PlaceHolder 5"/>
          <p:cNvSpPr>
            <a:spLocks noGrp="1"/>
          </p:cNvSpPr>
          <p:nvPr>
            <p:ph type="dt" idx="5"/>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3"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4"/>
          </p:nvPr>
        </p:nvSpPr>
        <p:spPr/>
        <p:txBody>
          <a:bodyPr/>
          <a:p>
            <a:fld id="{7E3D06EA-092A-4A25-AB36-C7431F1B8982}" type="slidenum">
              <a:t>&lt;#&gt;</a:t>
            </a:fld>
          </a:p>
        </p:txBody>
      </p:sp>
      <p:sp>
        <p:nvSpPr>
          <p:cNvPr id="8" name="PlaceHolder 7"/>
          <p:cNvSpPr>
            <a:spLocks noGrp="1"/>
          </p:cNvSpPr>
          <p:nvPr>
            <p:ph type="dt" idx="5"/>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5"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6"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7"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8"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9"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0"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4"/>
          </p:nvPr>
        </p:nvSpPr>
        <p:spPr/>
        <p:txBody>
          <a:bodyPr/>
          <a:p>
            <a:fld id="{F316F44B-A553-4F04-B079-D5F6F09F6D62}" type="slidenum">
              <a:t>&lt;#&gt;</a:t>
            </a:fld>
          </a:p>
        </p:txBody>
      </p:sp>
      <p:sp>
        <p:nvSpPr>
          <p:cNvPr id="10" name="PlaceHolder 9"/>
          <p:cNvSpPr>
            <a:spLocks noGrp="1"/>
          </p:cNvSpPr>
          <p:nvPr>
            <p:ph type="dt" idx="5"/>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73C35295-C770-4BA2-A4E4-A206E07AD625}" type="slidenum">
              <a:t>&lt;#&gt;</a:t>
            </a:fld>
          </a:p>
        </p:txBody>
      </p:sp>
      <p:sp>
        <p:nvSpPr>
          <p:cNvPr id="3" name="PlaceHolder 2"/>
          <p:cNvSpPr>
            <a:spLocks noGrp="1"/>
          </p:cNvSpPr>
          <p:nvPr>
            <p:ph type="dt" idx="7"/>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6"/>
          </p:nvPr>
        </p:nvSpPr>
        <p:spPr/>
        <p:txBody>
          <a:bodyPr/>
          <a:p>
            <a:fld id="{991FAFB4-6BD9-40BC-B457-6AABC6C28EA5}"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6"/>
          </p:nvPr>
        </p:nvSpPr>
        <p:spPr/>
        <p:txBody>
          <a:bodyPr/>
          <a:p>
            <a:fld id="{74157CF1-DF51-494B-839E-8BA91EB04766}" type="slidenum">
              <a:t>&lt;#&gt;</a:t>
            </a:fld>
          </a:p>
        </p:txBody>
      </p:sp>
      <p:sp>
        <p:nvSpPr>
          <p:cNvPr id="5" name="PlaceHolder 4"/>
          <p:cNvSpPr>
            <a:spLocks noGrp="1"/>
          </p:cNvSpPr>
          <p:nvPr>
            <p:ph type="dt" idx="7"/>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6"/>
          </p:nvPr>
        </p:nvSpPr>
        <p:spPr/>
        <p:txBody>
          <a:bodyPr/>
          <a:p>
            <a:fld id="{E7E6B0B8-A889-4961-A90B-8CC34E03A415}"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6"/>
          </p:nvPr>
        </p:nvSpPr>
        <p:spPr/>
        <p:txBody>
          <a:bodyPr/>
          <a:p>
            <a:fld id="{276308DE-DF8C-49E4-9AC2-D122A677EFD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6"/>
          </p:nvPr>
        </p:nvSpPr>
        <p:spPr/>
        <p:txBody>
          <a:bodyPr/>
          <a:p>
            <a:fld id="{6DE1A263-F071-47AE-8151-09431A274378}"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6"/>
          </p:nvPr>
        </p:nvSpPr>
        <p:spPr/>
        <p:txBody>
          <a:bodyPr/>
          <a:p>
            <a:fld id="{FF271BD2-1A02-4A52-9E44-F8FF3D5326A9}"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6"/>
          </p:nvPr>
        </p:nvSpPr>
        <p:spPr/>
        <p:txBody>
          <a:bodyPr/>
          <a:p>
            <a:fld id="{12698264-3E7B-464C-935B-67D65DB78931}"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sldNum" idx="6"/>
          </p:nvPr>
        </p:nvSpPr>
        <p:spPr/>
        <p:txBody>
          <a:bodyPr/>
          <a:p>
            <a:fld id="{43429C0D-B4E6-48A6-BB08-B1B2BD607CFE}" type="slidenum">
              <a:t>&lt;#&gt;</a:t>
            </a:fld>
          </a:p>
        </p:txBody>
      </p:sp>
      <p:sp>
        <p:nvSpPr>
          <p:cNvPr id="7" name="PlaceHolder 6"/>
          <p:cNvSpPr>
            <a:spLocks noGrp="1"/>
          </p:cNvSpPr>
          <p:nvPr>
            <p:ph type="dt" idx="7"/>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6"/>
          </p:nvPr>
        </p:nvSpPr>
        <p:spPr/>
        <p:txBody>
          <a:bodyPr/>
          <a:p>
            <a:fld id="{266255BE-CA0B-4DBE-9212-BF211BBD4ED9}"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sldNum" idx="6"/>
          </p:nvPr>
        </p:nvSpPr>
        <p:spPr/>
        <p:txBody>
          <a:bodyPr/>
          <a:p>
            <a:fld id="{F301BF57-9B15-4F97-A59A-D75D06B1FC6A}"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3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 name="PlaceHolder 8"/>
          <p:cNvSpPr>
            <a:spLocks noGrp="1"/>
          </p:cNvSpPr>
          <p:nvPr>
            <p:ph type="sldNum" idx="6"/>
          </p:nvPr>
        </p:nvSpPr>
        <p:spPr/>
        <p:txBody>
          <a:bodyPr/>
          <a:p>
            <a:fld id="{673CFB53-A617-4362-8493-8FE7006A1EA2}" type="slidenum">
              <a:t>&lt;#&gt;</a:t>
            </a:fld>
          </a:p>
        </p:txBody>
      </p:sp>
      <p:sp>
        <p:nvSpPr>
          <p:cNvPr id="10" name="PlaceHolder 9"/>
          <p:cNvSpPr>
            <a:spLocks noGrp="1"/>
          </p:cNvSpPr>
          <p:nvPr>
            <p:ph type="dt" idx="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0" name="Google Shape;8;p1"/>
          <p:cNvCxnSpPr/>
          <p:nvPr/>
        </p:nvCxnSpPr>
        <p:spPr>
          <a:xfrm>
            <a:off x="609480" y="6308640"/>
            <a:ext cx="7925400" cy="720"/>
          </a:xfrm>
          <a:prstGeom prst="straightConnector1">
            <a:avLst/>
          </a:prstGeom>
          <a:ln w="9525">
            <a:solidFill>
              <a:srgbClr val="ea4d44"/>
            </a:solidFill>
            <a:round/>
          </a:ln>
        </p:spPr>
      </p:cxnSp>
      <p:sp>
        <p:nvSpPr>
          <p:cNvPr id="1" name="Google Shape;10;p1" hidden="1"/>
          <p:cNvSpPr/>
          <p:nvPr/>
        </p:nvSpPr>
        <p:spPr>
          <a:xfrm>
            <a:off x="611280" y="765000"/>
            <a:ext cx="7957440" cy="108720"/>
          </a:xfrm>
          <a:custGeom>
            <a:avLst/>
            <a:gdLst>
              <a:gd name="textAreaLeft" fmla="*/ 0 w 7957440"/>
              <a:gd name="textAreaRight" fmla="*/ 7958160 w 7957440"/>
              <a:gd name="textAreaTop" fmla="*/ 0 h 108720"/>
              <a:gd name="textAreaBottom" fmla="*/ 109440 h 108720"/>
            </a:gdLst>
            <a:ahLst/>
            <a:rect l="textAreaLeft" t="textAreaTop" r="textAreaRight" b="textAreaBottom"/>
            <a:pathLst>
              <a:path w="1000" h="1000">
                <a:moveTo>
                  <a:pt x="0" y="0"/>
                </a:moveTo>
                <a:lnTo>
                  <a:pt x="585" y="0"/>
                </a:lnTo>
                <a:lnTo>
                  <a:pt x="585" y="1000"/>
                </a:lnTo>
                <a:lnTo>
                  <a:pt x="0" y="1000"/>
                </a:lnTo>
                <a:close/>
              </a:path>
              <a:path w="1000" h="1000">
                <a:moveTo>
                  <a:pt x="0" y="0"/>
                </a:moveTo>
                <a:lnTo>
                  <a:pt x="1000" y="0"/>
                </a:lnTo>
              </a:path>
            </a:pathLst>
          </a:custGeom>
          <a:solidFill>
            <a:srgbClr val="ea4d44"/>
          </a:solidFill>
          <a:ln w="9525">
            <a:solidFill>
              <a:srgbClr val="ea4d44"/>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a typeface="Arial"/>
            </a:endParaRPr>
          </a:p>
        </p:txBody>
      </p:sp>
      <p:sp>
        <p:nvSpPr>
          <p:cNvPr id="2" name="Google Shape;11;p1" hidden="1"/>
          <p:cNvSpPr/>
          <p:nvPr/>
        </p:nvSpPr>
        <p:spPr>
          <a:xfrm>
            <a:off x="1685160" y="6308640"/>
            <a:ext cx="5709600" cy="4028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da" sz="800" spc="-1" strike="noStrike">
                <a:solidFill>
                  <a:schemeClr val="dk1"/>
                </a:solidFill>
                <a:latin typeface="Verdana"/>
                <a:ea typeface="Verdana"/>
              </a:rPr>
              <a:t>Cloud computing - Azure</a:t>
            </a:r>
            <a:endParaRPr b="0" lang="en-US" sz="800" spc="-1" strike="noStrike">
              <a:solidFill>
                <a:srgbClr val="000000"/>
              </a:solidFill>
              <a:latin typeface="Arial"/>
            </a:endParaRPr>
          </a:p>
          <a:p>
            <a:pPr algn="ctr">
              <a:lnSpc>
                <a:spcPct val="100000"/>
              </a:lnSpc>
              <a:tabLst>
                <a:tab algn="l" pos="0"/>
              </a:tabLst>
            </a:pPr>
            <a:endParaRPr b="0" lang="en-US" sz="800" spc="-1" strike="noStrike">
              <a:solidFill>
                <a:srgbClr val="000000"/>
              </a:solidFill>
              <a:latin typeface="Arial"/>
            </a:endParaRPr>
          </a:p>
        </p:txBody>
      </p:sp>
      <p:pic>
        <p:nvPicPr>
          <p:cNvPr id="3" name="Google Shape;12;p1" descr=""/>
          <p:cNvPicPr/>
          <p:nvPr/>
        </p:nvPicPr>
        <p:blipFill>
          <a:blip r:embed="rId2"/>
          <a:stretch/>
        </p:blipFill>
        <p:spPr>
          <a:xfrm>
            <a:off x="7985880" y="6390360"/>
            <a:ext cx="547920" cy="321120"/>
          </a:xfrm>
          <a:prstGeom prst="rect">
            <a:avLst/>
          </a:prstGeom>
          <a:ln w="0">
            <a:noFill/>
          </a:ln>
        </p:spPr>
      </p:pic>
      <p:sp>
        <p:nvSpPr>
          <p:cNvPr id="4" name="Google Shape;15;p2"/>
          <p:cNvSpPr/>
          <p:nvPr/>
        </p:nvSpPr>
        <p:spPr>
          <a:xfrm>
            <a:off x="685800" y="2394000"/>
            <a:ext cx="7771680" cy="108720"/>
          </a:xfrm>
          <a:custGeom>
            <a:avLst/>
            <a:gdLst>
              <a:gd name="textAreaLeft" fmla="*/ 0 w 7771680"/>
              <a:gd name="textAreaRight" fmla="*/ 7772400 w 7771680"/>
              <a:gd name="textAreaTop" fmla="*/ 0 h 108720"/>
              <a:gd name="textAreaBottom" fmla="*/ 109440 h 108720"/>
            </a:gdLst>
            <a:ahLst/>
            <a:rect l="textAreaLeft" t="textAreaTop" r="textAreaRight" b="textAreaBottom"/>
            <a:pathLst>
              <a:path w="1000" h="1000">
                <a:moveTo>
                  <a:pt x="0" y="0"/>
                </a:moveTo>
                <a:lnTo>
                  <a:pt x="618" y="0"/>
                </a:lnTo>
                <a:lnTo>
                  <a:pt x="618" y="1000"/>
                </a:lnTo>
                <a:lnTo>
                  <a:pt x="0" y="1000"/>
                </a:lnTo>
                <a:close/>
              </a:path>
              <a:path w="1000" h="1000">
                <a:moveTo>
                  <a:pt x="0" y="0"/>
                </a:moveTo>
                <a:lnTo>
                  <a:pt x="1000" y="0"/>
                </a:lnTo>
              </a:path>
            </a:pathLst>
          </a:custGeom>
          <a:solidFill>
            <a:srgbClr val="ea4d44"/>
          </a:solidFill>
          <a:ln w="9525">
            <a:solidFill>
              <a:srgbClr val="ea4d44"/>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a typeface="Arial"/>
            </a:endParaRPr>
          </a:p>
        </p:txBody>
      </p:sp>
      <p:pic>
        <p:nvPicPr>
          <p:cNvPr id="5" name="Google Shape;21;p2" descr=""/>
          <p:cNvPicPr/>
          <p:nvPr/>
        </p:nvPicPr>
        <p:blipFill>
          <a:blip r:embed="rId3"/>
          <a:stretch/>
        </p:blipFill>
        <p:spPr>
          <a:xfrm>
            <a:off x="8060400" y="111600"/>
            <a:ext cx="1005120" cy="451800"/>
          </a:xfrm>
          <a:prstGeom prst="rect">
            <a:avLst/>
          </a:prstGeom>
          <a:ln w="0">
            <a:noFill/>
          </a:ln>
        </p:spPr>
      </p:pic>
      <p:sp>
        <p:nvSpPr>
          <p:cNvPr id="6" name="PlaceHolder 1"/>
          <p:cNvSpPr>
            <a:spLocks noGrp="1"/>
          </p:cNvSpPr>
          <p:nvPr>
            <p:ph type="title"/>
          </p:nvPr>
        </p:nvSpPr>
        <p:spPr>
          <a:xfrm>
            <a:off x="571680" y="149400"/>
            <a:ext cx="8000280" cy="6026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 name="PlaceHolder 2"/>
          <p:cNvSpPr>
            <a:spLocks noGrp="1"/>
          </p:cNvSpPr>
          <p:nvPr>
            <p:ph type="ftr" idx="1"/>
          </p:nvPr>
        </p:nvSpPr>
        <p:spPr>
          <a:xfrm>
            <a:off x="3124080" y="6248520"/>
            <a:ext cx="2894760" cy="456480"/>
          </a:xfrm>
          <a:prstGeom prst="rect">
            <a:avLst/>
          </a:prstGeom>
          <a:noFill/>
          <a:ln w="0">
            <a:noFill/>
          </a:ln>
        </p:spPr>
        <p:txBody>
          <a:bodyPr lIns="90000" rIns="90000" tIns="91440" bIns="9144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3"/>
          <p:cNvSpPr>
            <a:spLocks noGrp="1"/>
          </p:cNvSpPr>
          <p:nvPr>
            <p:ph type="sldNum" idx="2"/>
          </p:nvPr>
        </p:nvSpPr>
        <p:spPr>
          <a:xfrm>
            <a:off x="6553080" y="6248520"/>
            <a:ext cx="1904400" cy="456480"/>
          </a:xfrm>
          <a:prstGeom prst="rect">
            <a:avLst/>
          </a:prstGeom>
          <a:noFill/>
          <a:ln w="0">
            <a:noFill/>
          </a:ln>
        </p:spPr>
        <p:txBody>
          <a:bodyPr lIns="90000" rIns="90000" tIns="91440" bIns="91440" anchor="t">
            <a:noAutofit/>
          </a:bodyPr>
          <a:lstStyle>
            <a:lvl1pPr marL="3657600" indent="0" algn="r">
              <a:lnSpc>
                <a:spcPct val="100000"/>
              </a:lnSpc>
              <a:buNone/>
              <a:tabLst>
                <a:tab algn="l" pos="0"/>
              </a:tabLst>
              <a:defRPr b="0" lang="da" sz="1300" spc="-1" strike="noStrike">
                <a:solidFill>
                  <a:schemeClr val="dk1"/>
                </a:solidFill>
                <a:latin typeface="Verdana"/>
                <a:ea typeface="Verdana"/>
              </a:defRPr>
            </a:lvl1pPr>
          </a:lstStyle>
          <a:p>
            <a:pPr marL="3657600" indent="0" algn="r">
              <a:lnSpc>
                <a:spcPct val="100000"/>
              </a:lnSpc>
              <a:buNone/>
              <a:tabLst>
                <a:tab algn="l" pos="0"/>
              </a:tabLst>
            </a:pPr>
            <a:fld id="{7F80723E-4769-409F-AA0D-FB181B9CAFEF}" type="slidenum">
              <a:rPr b="0" lang="da" sz="1300" spc="-1" strike="noStrike">
                <a:solidFill>
                  <a:schemeClr val="dk1"/>
                </a:solidFill>
                <a:latin typeface="Verdana"/>
                <a:ea typeface="Verdana"/>
              </a:rPr>
              <a:t>&lt;number&gt;</a:t>
            </a:fld>
            <a:endParaRPr b="0" lang="en-US" sz="1300" spc="-1" strike="noStrike">
              <a:solidFill>
                <a:srgbClr val="000000"/>
              </a:solidFill>
              <a:latin typeface="Times New Roman"/>
            </a:endParaRPr>
          </a:p>
        </p:txBody>
      </p:sp>
      <p:sp>
        <p:nvSpPr>
          <p:cNvPr id="9" name="PlaceHolder 4"/>
          <p:cNvSpPr>
            <a:spLocks noGrp="1"/>
          </p:cNvSpPr>
          <p:nvPr>
            <p:ph type="dt" idx="3"/>
          </p:nvPr>
        </p:nvSpPr>
        <p:spPr>
          <a:xfrm>
            <a:off x="685800" y="6248520"/>
            <a:ext cx="1904400" cy="456480"/>
          </a:xfrm>
          <a:prstGeom prst="rect">
            <a:avLst/>
          </a:prstGeom>
          <a:noFill/>
          <a:ln w="0">
            <a:noFill/>
          </a:ln>
        </p:spPr>
        <p:txBody>
          <a:bodyPr lIns="90000" rIns="90000" tIns="91440" bIns="9144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47" name="Google Shape;8;p1"/>
          <p:cNvCxnSpPr/>
          <p:nvPr/>
        </p:nvCxnSpPr>
        <p:spPr>
          <a:xfrm>
            <a:off x="609480" y="6308640"/>
            <a:ext cx="7925400" cy="720"/>
          </a:xfrm>
          <a:prstGeom prst="straightConnector1">
            <a:avLst/>
          </a:prstGeom>
          <a:ln w="9525">
            <a:solidFill>
              <a:srgbClr val="ea4d44"/>
            </a:solidFill>
            <a:round/>
          </a:ln>
        </p:spPr>
      </p:cxnSp>
      <p:sp>
        <p:nvSpPr>
          <p:cNvPr id="48" name="Google Shape;10;p1"/>
          <p:cNvSpPr/>
          <p:nvPr/>
        </p:nvSpPr>
        <p:spPr>
          <a:xfrm>
            <a:off x="611280" y="765000"/>
            <a:ext cx="7957440" cy="108720"/>
          </a:xfrm>
          <a:custGeom>
            <a:avLst/>
            <a:gdLst>
              <a:gd name="textAreaLeft" fmla="*/ 0 w 7957440"/>
              <a:gd name="textAreaRight" fmla="*/ 7958160 w 7957440"/>
              <a:gd name="textAreaTop" fmla="*/ 0 h 108720"/>
              <a:gd name="textAreaBottom" fmla="*/ 109440 h 108720"/>
            </a:gdLst>
            <a:ahLst/>
            <a:rect l="textAreaLeft" t="textAreaTop" r="textAreaRight" b="textAreaBottom"/>
            <a:pathLst>
              <a:path w="1000" h="1000">
                <a:moveTo>
                  <a:pt x="0" y="0"/>
                </a:moveTo>
                <a:lnTo>
                  <a:pt x="585" y="0"/>
                </a:lnTo>
                <a:lnTo>
                  <a:pt x="585" y="1000"/>
                </a:lnTo>
                <a:lnTo>
                  <a:pt x="0" y="1000"/>
                </a:lnTo>
                <a:close/>
              </a:path>
              <a:path w="1000" h="1000">
                <a:moveTo>
                  <a:pt x="0" y="0"/>
                </a:moveTo>
                <a:lnTo>
                  <a:pt x="1000" y="0"/>
                </a:lnTo>
              </a:path>
            </a:pathLst>
          </a:custGeom>
          <a:solidFill>
            <a:srgbClr val="ea4d44"/>
          </a:solidFill>
          <a:ln w="9525">
            <a:solidFill>
              <a:srgbClr val="ea4d44"/>
            </a:solidFill>
            <a:round/>
          </a:ln>
        </p:spPr>
        <p:style>
          <a:lnRef idx="0"/>
          <a:fillRef idx="0"/>
          <a:effectRef idx="0"/>
          <a:fontRef idx="minor"/>
        </p:style>
        <p:txBody>
          <a:bodyPr lIns="90000" rIns="90000" tIns="45000" bIns="45000" anchor="t">
            <a:noAutofit/>
          </a:bodyPr>
          <a:p>
            <a:pPr>
              <a:lnSpc>
                <a:spcPct val="100000"/>
              </a:lnSpc>
              <a:tabLst>
                <a:tab algn="l" pos="0"/>
              </a:tabLst>
            </a:pPr>
            <a:endParaRPr b="0" lang="en-US" sz="1400" spc="-1" strike="noStrike">
              <a:solidFill>
                <a:srgbClr val="000000"/>
              </a:solidFill>
              <a:latin typeface="Arial"/>
              <a:ea typeface="Arial"/>
            </a:endParaRPr>
          </a:p>
        </p:txBody>
      </p:sp>
      <p:sp>
        <p:nvSpPr>
          <p:cNvPr id="49" name="Google Shape;11;p1"/>
          <p:cNvSpPr/>
          <p:nvPr/>
        </p:nvSpPr>
        <p:spPr>
          <a:xfrm>
            <a:off x="1685160" y="6308640"/>
            <a:ext cx="5709600" cy="4028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da" sz="800" spc="-1" strike="noStrike">
                <a:solidFill>
                  <a:schemeClr val="dk1"/>
                </a:solidFill>
                <a:latin typeface="Verdana"/>
                <a:ea typeface="Verdana"/>
              </a:rPr>
              <a:t>Cloud computing - Azure</a:t>
            </a:r>
            <a:endParaRPr b="0" lang="en-US" sz="800" spc="-1" strike="noStrike">
              <a:solidFill>
                <a:srgbClr val="000000"/>
              </a:solidFill>
              <a:latin typeface="Arial"/>
            </a:endParaRPr>
          </a:p>
          <a:p>
            <a:pPr algn="ctr">
              <a:lnSpc>
                <a:spcPct val="100000"/>
              </a:lnSpc>
              <a:tabLst>
                <a:tab algn="l" pos="0"/>
              </a:tabLst>
            </a:pPr>
            <a:endParaRPr b="0" lang="en-US" sz="800" spc="-1" strike="noStrike">
              <a:solidFill>
                <a:srgbClr val="000000"/>
              </a:solidFill>
              <a:latin typeface="Arial"/>
            </a:endParaRPr>
          </a:p>
        </p:txBody>
      </p:sp>
      <p:pic>
        <p:nvPicPr>
          <p:cNvPr id="50" name="Google Shape;12;p1" descr=""/>
          <p:cNvPicPr/>
          <p:nvPr/>
        </p:nvPicPr>
        <p:blipFill>
          <a:blip r:embed="rId2"/>
          <a:stretch/>
        </p:blipFill>
        <p:spPr>
          <a:xfrm>
            <a:off x="7985880" y="6390360"/>
            <a:ext cx="547920" cy="321120"/>
          </a:xfrm>
          <a:prstGeom prst="rect">
            <a:avLst/>
          </a:prstGeom>
          <a:ln w="0">
            <a:noFill/>
          </a:ln>
        </p:spPr>
      </p:pic>
      <p:sp>
        <p:nvSpPr>
          <p:cNvPr id="51" name="PlaceHolder 1"/>
          <p:cNvSpPr>
            <a:spLocks noGrp="1"/>
          </p:cNvSpPr>
          <p:nvPr>
            <p:ph type="sldNum" idx="4"/>
          </p:nvPr>
        </p:nvSpPr>
        <p:spPr>
          <a:xfrm>
            <a:off x="539640" y="6308640"/>
            <a:ext cx="322920" cy="524160"/>
          </a:xfrm>
          <a:prstGeom prst="rect">
            <a:avLst/>
          </a:prstGeom>
          <a:noFill/>
          <a:ln w="0">
            <a:noFill/>
          </a:ln>
        </p:spPr>
        <p:txBody>
          <a:bodyPr lIns="90000" rIns="90000" tIns="91440" bIns="91440" anchor="t">
            <a:noAutofit/>
          </a:bodyPr>
          <a:lstStyle>
            <a:lvl1pPr indent="0" algn="ctr">
              <a:lnSpc>
                <a:spcPct val="100000"/>
              </a:lnSpc>
              <a:buNone/>
              <a:tabLst>
                <a:tab algn="l" pos="0"/>
              </a:tabLst>
              <a:defRPr b="0" lang="da" sz="800" spc="-1" strike="noStrike">
                <a:solidFill>
                  <a:schemeClr val="dk1"/>
                </a:solidFill>
                <a:latin typeface="Verdana"/>
                <a:ea typeface="Verdana"/>
              </a:defRPr>
            </a:lvl1pPr>
          </a:lstStyle>
          <a:p>
            <a:pPr indent="0" algn="ctr">
              <a:lnSpc>
                <a:spcPct val="100000"/>
              </a:lnSpc>
              <a:buNone/>
              <a:tabLst>
                <a:tab algn="l" pos="0"/>
              </a:tabLst>
            </a:pPr>
            <a:fld id="{15D8C873-2097-491E-8D38-91057B58F780}" type="slidenum">
              <a:rPr b="0" lang="da" sz="800" spc="-1" strike="noStrike">
                <a:solidFill>
                  <a:schemeClr val="dk1"/>
                </a:solidFill>
                <a:latin typeface="Verdana"/>
                <a:ea typeface="Verdana"/>
              </a:rPr>
              <a:t>&lt;number&gt;</a:t>
            </a:fld>
            <a:endParaRPr b="0" lang="en-US" sz="800" spc="-1" strike="noStrike">
              <a:solidFill>
                <a:srgbClr val="000000"/>
              </a:solidFill>
              <a:latin typeface="Times New Roman"/>
            </a:endParaRPr>
          </a:p>
        </p:txBody>
      </p:sp>
      <p:sp>
        <p:nvSpPr>
          <p:cNvPr id="52" name="PlaceHolder 2"/>
          <p:cNvSpPr>
            <a:spLocks noGrp="1"/>
          </p:cNvSpPr>
          <p:nvPr>
            <p:ph type="dt" idx="5"/>
          </p:nvPr>
        </p:nvSpPr>
        <p:spPr>
          <a:xfrm>
            <a:off x="638640" y="6308640"/>
            <a:ext cx="1980360" cy="278640"/>
          </a:xfrm>
          <a:prstGeom prst="rect">
            <a:avLst/>
          </a:prstGeom>
          <a:noFill/>
          <a:ln w="0">
            <a:noFill/>
          </a:ln>
        </p:spPr>
        <p:txBody>
          <a:bodyPr lIns="90000" rIns="90000" tIns="91440" bIns="9144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3"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4" name="PlaceHolder 4"/>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91" name="Google Shape;8;p1"/>
          <p:cNvCxnSpPr/>
          <p:nvPr/>
        </p:nvCxnSpPr>
        <p:spPr>
          <a:xfrm>
            <a:off x="609480" y="6308640"/>
            <a:ext cx="7925400" cy="720"/>
          </a:xfrm>
          <a:prstGeom prst="straightConnector1">
            <a:avLst/>
          </a:prstGeom>
          <a:ln w="9525">
            <a:solidFill>
              <a:srgbClr val="ea4d44"/>
            </a:solidFill>
            <a:round/>
          </a:ln>
        </p:spPr>
      </p:cxnSp>
      <p:sp>
        <p:nvSpPr>
          <p:cNvPr id="92" name="Google Shape;10;p1"/>
          <p:cNvSpPr/>
          <p:nvPr/>
        </p:nvSpPr>
        <p:spPr>
          <a:xfrm>
            <a:off x="611280" y="765000"/>
            <a:ext cx="7957440" cy="108720"/>
          </a:xfrm>
          <a:custGeom>
            <a:avLst/>
            <a:gdLst>
              <a:gd name="textAreaLeft" fmla="*/ 0 w 7957440"/>
              <a:gd name="textAreaRight" fmla="*/ 7958160 w 7957440"/>
              <a:gd name="textAreaTop" fmla="*/ 0 h 108720"/>
              <a:gd name="textAreaBottom" fmla="*/ 109440 h 108720"/>
            </a:gdLst>
            <a:ahLst/>
            <a:rect l="textAreaLeft" t="textAreaTop" r="textAreaRight" b="textAreaBottom"/>
            <a:pathLst>
              <a:path w="1000" h="1000">
                <a:moveTo>
                  <a:pt x="0" y="0"/>
                </a:moveTo>
                <a:lnTo>
                  <a:pt x="585" y="0"/>
                </a:lnTo>
                <a:lnTo>
                  <a:pt x="585" y="1000"/>
                </a:lnTo>
                <a:lnTo>
                  <a:pt x="0" y="1000"/>
                </a:lnTo>
                <a:close/>
              </a:path>
              <a:path w="1000" h="1000">
                <a:moveTo>
                  <a:pt x="0" y="0"/>
                </a:moveTo>
                <a:lnTo>
                  <a:pt x="1000" y="0"/>
                </a:lnTo>
              </a:path>
            </a:pathLst>
          </a:custGeom>
          <a:solidFill>
            <a:srgbClr val="ea4d44"/>
          </a:solidFill>
          <a:ln w="9525">
            <a:solidFill>
              <a:srgbClr val="ea4d44"/>
            </a:solidFill>
            <a:round/>
          </a:ln>
        </p:spPr>
        <p:style>
          <a:lnRef idx="0"/>
          <a:fillRef idx="0"/>
          <a:effectRef idx="0"/>
          <a:fontRef idx="minor"/>
        </p:style>
        <p:txBody>
          <a:bodyPr lIns="90000" rIns="90000" tIns="45000" bIns="45000" anchor="t">
            <a:noAutofit/>
          </a:bodyPr>
          <a:p>
            <a:endParaRPr b="0" lang="en-US" sz="1400" spc="-1" strike="noStrike">
              <a:solidFill>
                <a:srgbClr val="000000"/>
              </a:solidFill>
              <a:latin typeface="Arial"/>
              <a:ea typeface="Arial"/>
            </a:endParaRPr>
          </a:p>
        </p:txBody>
      </p:sp>
      <p:sp>
        <p:nvSpPr>
          <p:cNvPr id="93" name="Google Shape;11;p1"/>
          <p:cNvSpPr/>
          <p:nvPr/>
        </p:nvSpPr>
        <p:spPr>
          <a:xfrm>
            <a:off x="1685160" y="6308640"/>
            <a:ext cx="5709600" cy="4028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da" sz="800" spc="-1" strike="noStrike">
                <a:solidFill>
                  <a:schemeClr val="dk1"/>
                </a:solidFill>
                <a:latin typeface="Verdana"/>
                <a:ea typeface="Verdana"/>
              </a:rPr>
              <a:t>Cloud computing - Azure</a:t>
            </a:r>
            <a:endParaRPr b="0" lang="en-US" sz="800" spc="-1" strike="noStrike">
              <a:solidFill>
                <a:srgbClr val="000000"/>
              </a:solidFill>
              <a:latin typeface="Arial"/>
            </a:endParaRPr>
          </a:p>
          <a:p>
            <a:pPr algn="ctr">
              <a:lnSpc>
                <a:spcPct val="100000"/>
              </a:lnSpc>
              <a:tabLst>
                <a:tab algn="l" pos="0"/>
              </a:tabLst>
            </a:pPr>
            <a:endParaRPr b="0" lang="en-US" sz="800" spc="-1" strike="noStrike">
              <a:solidFill>
                <a:srgbClr val="000000"/>
              </a:solidFill>
              <a:latin typeface="Arial"/>
            </a:endParaRPr>
          </a:p>
        </p:txBody>
      </p:sp>
      <p:pic>
        <p:nvPicPr>
          <p:cNvPr id="94" name="Google Shape;12;p1" descr=""/>
          <p:cNvPicPr/>
          <p:nvPr/>
        </p:nvPicPr>
        <p:blipFill>
          <a:blip r:embed="rId2"/>
          <a:stretch/>
        </p:blipFill>
        <p:spPr>
          <a:xfrm>
            <a:off x="7985880" y="6390360"/>
            <a:ext cx="547920" cy="321120"/>
          </a:xfrm>
          <a:prstGeom prst="rect">
            <a:avLst/>
          </a:prstGeom>
          <a:ln w="0">
            <a:noFill/>
          </a:ln>
        </p:spPr>
      </p:pic>
      <p:sp>
        <p:nvSpPr>
          <p:cNvPr id="95" name="PlaceHolder 1"/>
          <p:cNvSpPr>
            <a:spLocks noGrp="1"/>
          </p:cNvSpPr>
          <p:nvPr>
            <p:ph type="sldNum" idx="6"/>
          </p:nvPr>
        </p:nvSpPr>
        <p:spPr>
          <a:xfrm>
            <a:off x="539640" y="6308640"/>
            <a:ext cx="322920" cy="524160"/>
          </a:xfrm>
          <a:prstGeom prst="rect">
            <a:avLst/>
          </a:prstGeom>
          <a:noFill/>
          <a:ln w="0">
            <a:noFill/>
          </a:ln>
        </p:spPr>
        <p:txBody>
          <a:bodyPr lIns="90000" rIns="90000" tIns="91440" bIns="91440" anchor="t">
            <a:noAutofit/>
          </a:bodyPr>
          <a:lstStyle>
            <a:lvl1pPr indent="0" algn="ctr">
              <a:lnSpc>
                <a:spcPct val="100000"/>
              </a:lnSpc>
              <a:buNone/>
              <a:tabLst>
                <a:tab algn="l" pos="0"/>
              </a:tabLst>
              <a:defRPr b="0" lang="da" sz="800" spc="-1" strike="noStrike">
                <a:solidFill>
                  <a:schemeClr val="dk1"/>
                </a:solidFill>
                <a:latin typeface="Verdana"/>
                <a:ea typeface="Verdana"/>
              </a:defRPr>
            </a:lvl1pPr>
          </a:lstStyle>
          <a:p>
            <a:pPr indent="0" algn="ctr">
              <a:lnSpc>
                <a:spcPct val="100000"/>
              </a:lnSpc>
              <a:buNone/>
              <a:tabLst>
                <a:tab algn="l" pos="0"/>
              </a:tabLst>
            </a:pPr>
            <a:fld id="{ED821D77-8F62-4533-B809-1DF73DB31F1C}" type="slidenum">
              <a:rPr b="0" lang="da" sz="800" spc="-1" strike="noStrike">
                <a:solidFill>
                  <a:schemeClr val="dk1"/>
                </a:solidFill>
                <a:latin typeface="Verdana"/>
                <a:ea typeface="Verdana"/>
              </a:rPr>
              <a:t>&lt;number&gt;</a:t>
            </a:fld>
            <a:endParaRPr b="0" lang="en-US" sz="800" spc="-1" strike="noStrike">
              <a:solidFill>
                <a:srgbClr val="000000"/>
              </a:solidFill>
              <a:latin typeface="Times New Roman"/>
            </a:endParaRPr>
          </a:p>
        </p:txBody>
      </p:sp>
      <p:sp>
        <p:nvSpPr>
          <p:cNvPr id="96" name="PlaceHolder 2"/>
          <p:cNvSpPr>
            <a:spLocks noGrp="1"/>
          </p:cNvSpPr>
          <p:nvPr>
            <p:ph type="dt" idx="7"/>
          </p:nvPr>
        </p:nvSpPr>
        <p:spPr>
          <a:xfrm>
            <a:off x="638640" y="6308640"/>
            <a:ext cx="1980360" cy="278640"/>
          </a:xfrm>
          <a:prstGeom prst="rect">
            <a:avLst/>
          </a:prstGeom>
          <a:noFill/>
          <a:ln w="0">
            <a:noFill/>
          </a:ln>
        </p:spPr>
        <p:txBody>
          <a:bodyPr lIns="90000" rIns="90000" tIns="91440" bIns="9144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7" name="PlaceHolder 3"/>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98" name="PlaceHolder 4"/>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hyperlink" Target="https://azurespeedtest.azurewebsites.net/" TargetMode="External"/><Relationship Id="rId3"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4.png"/><Relationship Id="rId3"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
</Relationships>
</file>

<file path=ppt/slides/_rels/slide47.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685800" y="1022400"/>
            <a:ext cx="7771680" cy="1370880"/>
          </a:xfrm>
          <a:prstGeom prst="rect">
            <a:avLst/>
          </a:prstGeom>
          <a:noFill/>
          <a:ln w="0">
            <a:noFill/>
          </a:ln>
        </p:spPr>
        <p:txBody>
          <a:bodyPr lIns="0" rIns="0" tIns="91440" bIns="91440" anchor="b">
            <a:noAutofit/>
          </a:bodyPr>
          <a:p>
            <a:pPr indent="0">
              <a:lnSpc>
                <a:spcPct val="100000"/>
              </a:lnSpc>
              <a:buNone/>
              <a:tabLst>
                <a:tab algn="l" pos="0"/>
              </a:tabLst>
            </a:pPr>
            <a:r>
              <a:rPr b="0" lang="da" sz="2600" spc="-1" strike="noStrike">
                <a:solidFill>
                  <a:schemeClr val="dk2"/>
                </a:solidFill>
                <a:latin typeface="Verdana"/>
                <a:ea typeface="Verdana"/>
              </a:rPr>
              <a:t>Cloud computing - Azure</a:t>
            </a:r>
            <a:endParaRPr b="0" lang="en-US" sz="2600" spc="-1" strike="noStrike">
              <a:solidFill>
                <a:srgbClr val="000000"/>
              </a:solidFill>
              <a:latin typeface="Arial"/>
            </a:endParaRPr>
          </a:p>
        </p:txBody>
      </p:sp>
      <p:sp>
        <p:nvSpPr>
          <p:cNvPr id="136" name="PlaceHolder 2"/>
          <p:cNvSpPr>
            <a:spLocks noGrp="1"/>
          </p:cNvSpPr>
          <p:nvPr>
            <p:ph type="subTitle"/>
          </p:nvPr>
        </p:nvSpPr>
        <p:spPr>
          <a:xfrm>
            <a:off x="1447920" y="3429000"/>
            <a:ext cx="7009560" cy="1599120"/>
          </a:xfrm>
          <a:prstGeom prst="rect">
            <a:avLst/>
          </a:prstGeom>
          <a:noFill/>
          <a:ln w="0">
            <a:noFill/>
          </a:ln>
        </p:spPr>
        <p:txBody>
          <a:bodyPr lIns="0" rIns="0" tIns="91440" bIns="91440" anchor="t">
            <a:noAutofit/>
          </a:bodyPr>
          <a:p>
            <a:pPr indent="0" algn="ctr">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Cloud computing</a:t>
            </a:r>
            <a:endParaRPr b="0" lang="en-US" sz="2400" spc="-1" strike="noStrike">
              <a:solidFill>
                <a:srgbClr val="000000"/>
              </a:solidFill>
              <a:latin typeface="Arial"/>
            </a:endParaRPr>
          </a:p>
        </p:txBody>
      </p:sp>
      <p:pic>
        <p:nvPicPr>
          <p:cNvPr id="138" name="Google Shape;42;p6" descr=""/>
          <p:cNvPicPr/>
          <p:nvPr/>
        </p:nvPicPr>
        <p:blipFill>
          <a:blip r:embed="rId1"/>
          <a:stretch/>
        </p:blipFill>
        <p:spPr>
          <a:xfrm>
            <a:off x="663480" y="1483920"/>
            <a:ext cx="4908600" cy="3681360"/>
          </a:xfrm>
          <a:prstGeom prst="rect">
            <a:avLst/>
          </a:prstGeom>
          <a:ln w="0">
            <a:noFill/>
          </a:ln>
        </p:spPr>
      </p:pic>
      <p:sp>
        <p:nvSpPr>
          <p:cNvPr id="139" name="Google Shape;43;p6"/>
          <p:cNvSpPr/>
          <p:nvPr/>
        </p:nvSpPr>
        <p:spPr>
          <a:xfrm>
            <a:off x="5419800" y="1555560"/>
            <a:ext cx="3513960" cy="3134880"/>
          </a:xfrm>
          <a:prstGeom prst="rect">
            <a:avLst/>
          </a:prstGeom>
          <a:noFill/>
          <a:ln w="0">
            <a:noFill/>
          </a:ln>
        </p:spPr>
        <p:style>
          <a:lnRef idx="0"/>
          <a:fillRef idx="0"/>
          <a:effectRef idx="0"/>
          <a:fontRef idx="minor"/>
        </p:style>
        <p:txBody>
          <a:bodyPr lIns="90000" rIns="90000" tIns="91440" bIns="91440" anchor="t">
            <a:spAutoFit/>
          </a:bodyPr>
          <a:p>
            <a:pPr marL="457200" indent="-304920">
              <a:lnSpc>
                <a:spcPct val="115000"/>
              </a:lnSpc>
              <a:buClr>
                <a:srgbClr val="0d0d0d"/>
              </a:buClr>
              <a:buFont typeface="Roboto"/>
              <a:buChar char="●"/>
            </a:pPr>
            <a:r>
              <a:rPr b="0" lang="da" sz="1200" spc="-1" strike="noStrike">
                <a:solidFill>
                  <a:srgbClr val="0d0d0d"/>
                </a:solidFill>
                <a:highlight>
                  <a:srgbClr val="ffffff"/>
                </a:highlight>
                <a:latin typeface="Roboto"/>
                <a:ea typeface="Roboto"/>
              </a:rPr>
              <a:t>Cloud computing er en teknologimodel, der giver brugerne mulighed for at få adgang til delt computingressourcer (som f.eks. servere, lagring, databaser, netværkstjenester, software, applikationer og mere) via internettet, hvilket er kendt som "skyen".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0" lang="da" sz="1200" spc="-1" strike="noStrike">
                <a:solidFill>
                  <a:srgbClr val="0d0d0d"/>
                </a:solidFill>
                <a:highlight>
                  <a:srgbClr val="ffffff"/>
                </a:highlight>
                <a:latin typeface="Roboto"/>
                <a:ea typeface="Roboto"/>
              </a:rPr>
              <a:t>Dette tillader virksomheder og individuelle brugere at bruge computerkraft og lagringsressourcer uden at skulle eje eller direkte administrere den fysiske infrastruktur.</a:t>
            </a:r>
            <a:endParaRPr b="0" lang="en-US" sz="1200" spc="-1" strike="noStrike">
              <a:solidFill>
                <a:srgbClr val="000000"/>
              </a:solidFill>
              <a:latin typeface="Arial"/>
            </a:endParaRPr>
          </a:p>
          <a:p>
            <a:pPr>
              <a:lnSpc>
                <a:spcPct val="100000"/>
              </a:lnSpc>
              <a:spcBef>
                <a:spcPts val="1500"/>
              </a:spcBef>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De primære karakteristika for cloud computing</a:t>
            </a:r>
            <a:endParaRPr b="0" lang="en-US" sz="2400" spc="-1" strike="noStrike">
              <a:solidFill>
                <a:srgbClr val="000000"/>
              </a:solidFill>
              <a:latin typeface="Arial"/>
            </a:endParaRPr>
          </a:p>
        </p:txBody>
      </p:sp>
      <p:sp>
        <p:nvSpPr>
          <p:cNvPr id="141" name="Google Shape;49;p7"/>
          <p:cNvSpPr/>
          <p:nvPr/>
        </p:nvSpPr>
        <p:spPr>
          <a:xfrm>
            <a:off x="571680" y="1355400"/>
            <a:ext cx="8362080" cy="2234520"/>
          </a:xfrm>
          <a:prstGeom prst="rect">
            <a:avLst/>
          </a:prstGeom>
          <a:noFill/>
          <a:ln w="0">
            <a:noFill/>
          </a:ln>
        </p:spPr>
        <p:style>
          <a:lnRef idx="0"/>
          <a:fillRef idx="0"/>
          <a:effectRef idx="0"/>
          <a:fontRef idx="minor"/>
        </p:style>
        <p:txBody>
          <a:bodyPr lIns="90000" rIns="90000" tIns="91440" bIns="91440" anchor="t">
            <a:spAutoFit/>
          </a:bodyPr>
          <a:p>
            <a:pPr marL="457200" indent="-304920">
              <a:lnSpc>
                <a:spcPct val="115000"/>
              </a:lnSpc>
              <a:spcBef>
                <a:spcPts val="1500"/>
              </a:spcBef>
              <a:buClr>
                <a:srgbClr val="0d0d0d"/>
              </a:buClr>
              <a:buFont typeface="Roboto"/>
              <a:buChar char="●"/>
            </a:pPr>
            <a:r>
              <a:rPr b="1" lang="da" sz="1200" spc="-1" strike="noStrike">
                <a:solidFill>
                  <a:srgbClr val="0d0d0d"/>
                </a:solidFill>
                <a:highlight>
                  <a:srgbClr val="ffffff"/>
                </a:highlight>
                <a:latin typeface="Roboto"/>
                <a:ea typeface="Roboto"/>
              </a:rPr>
              <a:t>Selvbetjening on-demand:</a:t>
            </a:r>
            <a:r>
              <a:rPr b="0" lang="da" sz="1200" spc="-1" strike="noStrike">
                <a:solidFill>
                  <a:srgbClr val="0d0d0d"/>
                </a:solidFill>
                <a:highlight>
                  <a:srgbClr val="ffffff"/>
                </a:highlight>
                <a:latin typeface="Roboto"/>
                <a:ea typeface="Roboto"/>
              </a:rPr>
              <a:t> Brugere kan selv opsætte og administrere deres computing ressourcer efter behov, uden menneskelig interaktion fra tjenesteudbyderens side.</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Bred netværksadgang:</a:t>
            </a:r>
            <a:r>
              <a:rPr b="0" lang="da" sz="1200" spc="-1" strike="noStrike">
                <a:solidFill>
                  <a:srgbClr val="0d0d0d"/>
                </a:solidFill>
                <a:highlight>
                  <a:srgbClr val="ffffff"/>
                </a:highlight>
                <a:latin typeface="Roboto"/>
                <a:ea typeface="Roboto"/>
              </a:rPr>
              <a:t> Ressourcerne er tilgængelige over internettet fra en hvilken som helst enhed.</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Ressourcedeling:</a:t>
            </a:r>
            <a:r>
              <a:rPr b="0" lang="da" sz="1200" spc="-1" strike="noStrike">
                <a:solidFill>
                  <a:srgbClr val="0d0d0d"/>
                </a:solidFill>
                <a:highlight>
                  <a:srgbClr val="ffffff"/>
                </a:highlight>
                <a:latin typeface="Roboto"/>
                <a:ea typeface="Roboto"/>
              </a:rPr>
              <a:t> Tjenesterne leveres fra en pulje af ressourcer, der dynamisk allokeres og de-allokeres efter brugernes behov. Dette giver høj effektivitet og skalerbarhed.</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Elasticitet:</a:t>
            </a:r>
            <a:r>
              <a:rPr b="0" lang="da" sz="1200" spc="-1" strike="noStrike">
                <a:solidFill>
                  <a:srgbClr val="0d0d0d"/>
                </a:solidFill>
                <a:highlight>
                  <a:srgbClr val="ffffff"/>
                </a:highlight>
                <a:latin typeface="Roboto"/>
                <a:ea typeface="Roboto"/>
              </a:rPr>
              <a:t> Ressourcer kan hurtigt skaleres op eller ned, ofte automatisk, så det virker som om, der er ubegrænset kapacitet til rådighed efter behov.</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Pay-as-you-go-model:</a:t>
            </a:r>
            <a:r>
              <a:rPr b="0" lang="da" sz="1200" spc="-1" strike="noStrike">
                <a:solidFill>
                  <a:srgbClr val="0d0d0d"/>
                </a:solidFill>
                <a:highlight>
                  <a:srgbClr val="ffffff"/>
                </a:highlight>
                <a:latin typeface="Roboto"/>
                <a:ea typeface="Roboto"/>
              </a:rPr>
              <a:t> Brug af ressourcer måles, så brugerne kun betaler for, hvad de faktisk bruger. </a:t>
            </a:r>
            <a:endParaRPr b="0" lang="en-US" sz="1200" spc="-1" strike="noStrike">
              <a:solidFill>
                <a:srgbClr val="000000"/>
              </a:solidFill>
              <a:latin typeface="Arial"/>
            </a:endParaRPr>
          </a:p>
          <a:p>
            <a:pPr>
              <a:lnSpc>
                <a:spcPct val="100000"/>
              </a:lnSpc>
              <a:spcBef>
                <a:spcPts val="1500"/>
              </a:spcBef>
              <a:tabLst>
                <a:tab algn="l" pos="0"/>
              </a:tabLst>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On-Prem, IaaS, PaaS, SaaS, BaaS</a:t>
            </a:r>
            <a:endParaRPr b="0" lang="en-US" sz="2400" spc="-1" strike="noStrike">
              <a:solidFill>
                <a:srgbClr val="000000"/>
              </a:solidFill>
              <a:latin typeface="Arial"/>
            </a:endParaRPr>
          </a:p>
        </p:txBody>
      </p:sp>
      <p:pic>
        <p:nvPicPr>
          <p:cNvPr id="143" name="Google Shape;55;p8" descr=""/>
          <p:cNvPicPr/>
          <p:nvPr/>
        </p:nvPicPr>
        <p:blipFill>
          <a:blip r:embed="rId1"/>
          <a:stretch/>
        </p:blipFill>
        <p:spPr>
          <a:xfrm>
            <a:off x="1625040" y="1112760"/>
            <a:ext cx="6104880" cy="41997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On-Prem</a:t>
            </a:r>
            <a:endParaRPr b="0" lang="en-US" sz="2400" spc="-1" strike="noStrike">
              <a:solidFill>
                <a:srgbClr val="000000"/>
              </a:solidFill>
              <a:latin typeface="Arial"/>
            </a:endParaRPr>
          </a:p>
        </p:txBody>
      </p:sp>
      <p:pic>
        <p:nvPicPr>
          <p:cNvPr id="145" name="Google Shape;61;p9" descr=""/>
          <p:cNvPicPr/>
          <p:nvPr/>
        </p:nvPicPr>
        <p:blipFill>
          <a:blip r:embed="rId1"/>
          <a:stretch/>
        </p:blipFill>
        <p:spPr>
          <a:xfrm>
            <a:off x="1020960" y="1185480"/>
            <a:ext cx="3522960" cy="4557240"/>
          </a:xfrm>
          <a:prstGeom prst="rect">
            <a:avLst/>
          </a:prstGeom>
          <a:ln w="0">
            <a:noFill/>
          </a:ln>
        </p:spPr>
      </p:pic>
      <p:sp>
        <p:nvSpPr>
          <p:cNvPr id="146" name="Google Shape;62;p9"/>
          <p:cNvSpPr/>
          <p:nvPr/>
        </p:nvSpPr>
        <p:spPr>
          <a:xfrm>
            <a:off x="1095120" y="1917360"/>
            <a:ext cx="900360" cy="4032360"/>
          </a:xfrm>
          <a:prstGeom prst="ellipse">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47" name="Google Shape;63;p9"/>
          <p:cNvSpPr/>
          <p:nvPr/>
        </p:nvSpPr>
        <p:spPr>
          <a:xfrm>
            <a:off x="4753080" y="1231560"/>
            <a:ext cx="4390560" cy="3167640"/>
          </a:xfrm>
          <a:prstGeom prst="rect">
            <a:avLst/>
          </a:prstGeom>
          <a:noFill/>
          <a:ln w="0">
            <a:noFill/>
          </a:ln>
        </p:spPr>
        <p:style>
          <a:lnRef idx="0"/>
          <a:fillRef idx="0"/>
          <a:effectRef idx="0"/>
          <a:fontRef idx="minor"/>
        </p:style>
        <p:txBody>
          <a:bodyPr lIns="90000" rIns="90000" tIns="91440" bIns="91440" anchor="t">
            <a:spAutoFit/>
          </a:bodyPr>
          <a:p>
            <a:pPr>
              <a:lnSpc>
                <a:spcPct val="160000"/>
              </a:lnSpc>
              <a:spcBef>
                <a:spcPts val="1400"/>
              </a:spcBef>
              <a:tabLst>
                <a:tab algn="l" pos="0"/>
              </a:tabLst>
            </a:pPr>
            <a:r>
              <a:rPr b="1" lang="da" sz="1650" spc="-1" strike="noStrike">
                <a:solidFill>
                  <a:srgbClr val="0d0d0d"/>
                </a:solidFill>
                <a:highlight>
                  <a:srgbClr val="ffffff"/>
                </a:highlight>
                <a:latin typeface="Roboto"/>
                <a:ea typeface="Roboto"/>
              </a:rPr>
              <a:t>On-Prem (On-Premises)</a:t>
            </a:r>
            <a:endParaRPr b="0" lang="en-US" sz="1650" spc="-1" strike="noStrike">
              <a:solidFill>
                <a:srgbClr val="000000"/>
              </a:solidFill>
              <a:latin typeface="Arial"/>
            </a:endParaRPr>
          </a:p>
          <a:p>
            <a:pPr marL="457200" indent="-304920">
              <a:lnSpc>
                <a:spcPct val="115000"/>
              </a:lnSpc>
              <a:spcBef>
                <a:spcPts val="400"/>
              </a:spcBef>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Definition: On-Prem refererer til IT-infrastruktur, der er fysisk placeret på brugerens lokation, typisk indenfor en virksomheds ejendom. Dette omfatter servere, datacentre, og netværksressourcer.</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Fordele: Fuldkommen kontrol over hardware og software, højere sikkerhedsniveau, og tilpasningsmuligheder.</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Ulemper: Højere opstartsomkostninger, kræver IT-personale til vedligeholdelse, og mindre skalerbarhed sammenlignet med cloud-løsninger.</a:t>
            </a:r>
            <a:endParaRPr b="0" lang="en-US" sz="1200" spc="-1" strike="noStrike">
              <a:solidFill>
                <a:srgbClr val="000000"/>
              </a:solidFill>
              <a:latin typeface="Arial"/>
            </a:endParaRPr>
          </a:p>
          <a:p>
            <a:pPr>
              <a:lnSpc>
                <a:spcPct val="100000"/>
              </a:lnSpc>
              <a:spcBef>
                <a:spcPts val="1500"/>
              </a:spcBef>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IaaS</a:t>
            </a:r>
            <a:endParaRPr b="0" lang="en-US" sz="2400" spc="-1" strike="noStrike">
              <a:solidFill>
                <a:srgbClr val="000000"/>
              </a:solidFill>
              <a:latin typeface="Arial"/>
            </a:endParaRPr>
          </a:p>
        </p:txBody>
      </p:sp>
      <p:pic>
        <p:nvPicPr>
          <p:cNvPr id="149" name="Google Shape;69;p10" descr=""/>
          <p:cNvPicPr/>
          <p:nvPr/>
        </p:nvPicPr>
        <p:blipFill>
          <a:blip r:embed="rId1"/>
          <a:stretch/>
        </p:blipFill>
        <p:spPr>
          <a:xfrm>
            <a:off x="1020960" y="1185480"/>
            <a:ext cx="3522960" cy="4557240"/>
          </a:xfrm>
          <a:prstGeom prst="rect">
            <a:avLst/>
          </a:prstGeom>
          <a:ln w="0">
            <a:noFill/>
          </a:ln>
        </p:spPr>
      </p:pic>
      <p:sp>
        <p:nvSpPr>
          <p:cNvPr id="150" name="Google Shape;70;p10"/>
          <p:cNvSpPr/>
          <p:nvPr/>
        </p:nvSpPr>
        <p:spPr>
          <a:xfrm>
            <a:off x="1883520" y="1897200"/>
            <a:ext cx="900360" cy="4032360"/>
          </a:xfrm>
          <a:prstGeom prst="ellipse">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51" name="Google Shape;71;p10"/>
          <p:cNvSpPr/>
          <p:nvPr/>
        </p:nvSpPr>
        <p:spPr>
          <a:xfrm>
            <a:off x="4753080" y="1231560"/>
            <a:ext cx="4390560" cy="4832640"/>
          </a:xfrm>
          <a:prstGeom prst="rect">
            <a:avLst/>
          </a:prstGeom>
          <a:noFill/>
          <a:ln w="0">
            <a:noFill/>
          </a:ln>
        </p:spPr>
        <p:style>
          <a:lnRef idx="0"/>
          <a:fillRef idx="0"/>
          <a:effectRef idx="0"/>
          <a:fontRef idx="minor"/>
        </p:style>
        <p:txBody>
          <a:bodyPr lIns="90000" rIns="90000" tIns="91440" bIns="91440" anchor="t">
            <a:spAutoFit/>
          </a:bodyPr>
          <a:p>
            <a:pPr>
              <a:lnSpc>
                <a:spcPct val="160000"/>
              </a:lnSpc>
              <a:spcBef>
                <a:spcPts val="1400"/>
              </a:spcBef>
              <a:tabLst>
                <a:tab algn="l" pos="0"/>
              </a:tabLst>
            </a:pPr>
            <a:r>
              <a:rPr b="1" lang="da" sz="1650" spc="-1" strike="noStrike">
                <a:solidFill>
                  <a:srgbClr val="0d0d0d"/>
                </a:solidFill>
                <a:highlight>
                  <a:srgbClr val="ffffff"/>
                </a:highlight>
                <a:latin typeface="Roboto"/>
                <a:ea typeface="Roboto"/>
              </a:rPr>
              <a:t>IaaS (Infrastructure as a Service)</a:t>
            </a:r>
            <a:endParaRPr b="0" lang="en-US" sz="1650" spc="-1" strike="noStrike">
              <a:solidFill>
                <a:srgbClr val="000000"/>
              </a:solidFill>
              <a:latin typeface="Arial"/>
            </a:endParaRPr>
          </a:p>
          <a:p>
            <a:pPr marL="457200" indent="-304920">
              <a:lnSpc>
                <a:spcPct val="115000"/>
              </a:lnSpc>
              <a:spcBef>
                <a:spcPts val="400"/>
              </a:spcBef>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Definition: IaaS leverer virtuelle ressourcer over internettet. Det giver brugere adgang til computing-ressourcer som virtuelle maskiner, netværk og lagerplads.</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Eksempler: Amazon Web Services (AWS), Microsoft Azure, Google Cloud Platform.</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Fordele: Skalerbarhed, ingen behov for fysisk hardware, betal-per-brug prissætning, frit valg af platform </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Ulemper: Kan være komplekst at administrere, afhænger af udbyderens sikkerhed og oppetid.</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Virtualisering skaber et abstraktionslag mellem den fysiske hardware (f.eks. servere) og de operativsystemer (O/S) og applikationer, der kører ovenpå den. Formålet med virtualisering er at muliggøre, at flere virtuelle maskiner (VM'er) eller containere kan køre på en enkelt fysisk maskine, hvilket maksimerer udnyttelsen af hardware og giver større fleksibilitet og effektivitet i forhold til ressourceallokering og styring.</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PaaS</a:t>
            </a:r>
            <a:endParaRPr b="0" lang="en-US" sz="2400" spc="-1" strike="noStrike">
              <a:solidFill>
                <a:srgbClr val="000000"/>
              </a:solidFill>
              <a:latin typeface="Arial"/>
            </a:endParaRPr>
          </a:p>
        </p:txBody>
      </p:sp>
      <p:pic>
        <p:nvPicPr>
          <p:cNvPr id="153" name="Google Shape;77;p11" descr=""/>
          <p:cNvPicPr/>
          <p:nvPr/>
        </p:nvPicPr>
        <p:blipFill>
          <a:blip r:embed="rId1"/>
          <a:stretch/>
        </p:blipFill>
        <p:spPr>
          <a:xfrm>
            <a:off x="1020960" y="1185480"/>
            <a:ext cx="3522960" cy="4557240"/>
          </a:xfrm>
          <a:prstGeom prst="rect">
            <a:avLst/>
          </a:prstGeom>
          <a:ln w="0">
            <a:noFill/>
          </a:ln>
        </p:spPr>
      </p:pic>
      <p:sp>
        <p:nvSpPr>
          <p:cNvPr id="154" name="Google Shape;78;p11"/>
          <p:cNvSpPr/>
          <p:nvPr/>
        </p:nvSpPr>
        <p:spPr>
          <a:xfrm>
            <a:off x="2753280" y="1886760"/>
            <a:ext cx="900360" cy="4032360"/>
          </a:xfrm>
          <a:prstGeom prst="ellipse">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55" name="Google Shape;79;p11"/>
          <p:cNvSpPr/>
          <p:nvPr/>
        </p:nvSpPr>
        <p:spPr>
          <a:xfrm>
            <a:off x="4753080" y="1231560"/>
            <a:ext cx="4390560" cy="3167640"/>
          </a:xfrm>
          <a:prstGeom prst="rect">
            <a:avLst/>
          </a:prstGeom>
          <a:noFill/>
          <a:ln w="0">
            <a:noFill/>
          </a:ln>
        </p:spPr>
        <p:style>
          <a:lnRef idx="0"/>
          <a:fillRef idx="0"/>
          <a:effectRef idx="0"/>
          <a:fontRef idx="minor"/>
        </p:style>
        <p:txBody>
          <a:bodyPr lIns="90000" rIns="90000" tIns="91440" bIns="91440" anchor="t">
            <a:spAutoFit/>
          </a:bodyPr>
          <a:p>
            <a:pPr>
              <a:lnSpc>
                <a:spcPct val="160000"/>
              </a:lnSpc>
              <a:spcBef>
                <a:spcPts val="1400"/>
              </a:spcBef>
              <a:tabLst>
                <a:tab algn="l" pos="0"/>
              </a:tabLst>
            </a:pPr>
            <a:r>
              <a:rPr b="1" lang="da" sz="1650" spc="-1" strike="noStrike">
                <a:solidFill>
                  <a:srgbClr val="0d0d0d"/>
                </a:solidFill>
                <a:highlight>
                  <a:srgbClr val="ffffff"/>
                </a:highlight>
                <a:latin typeface="Roboto"/>
                <a:ea typeface="Roboto"/>
              </a:rPr>
              <a:t>PaaS (Platform as a Service)</a:t>
            </a:r>
            <a:endParaRPr b="0" lang="en-US" sz="1650" spc="-1" strike="noStrike">
              <a:solidFill>
                <a:srgbClr val="000000"/>
              </a:solidFill>
              <a:latin typeface="Arial"/>
            </a:endParaRPr>
          </a:p>
          <a:p>
            <a:pPr marL="457200" indent="-304920">
              <a:lnSpc>
                <a:spcPct val="115000"/>
              </a:lnSpc>
              <a:spcBef>
                <a:spcPts val="400"/>
              </a:spcBef>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Definition: PaaS tilbyder en platform, der tillader udviklere at bygge, køre og administrere applikationer uden at skulle bekymre sig om infrastrukturen.</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Eksempler: Heroku, Google App Engine, Microsoft Azure App Services.</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Fordele: Lettere app-udvikling og -deployment, automatisk skalering, integrerede services for udvikling.</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Ulemper: Mindre kontrol over underliggende infrastruktur, låst til bestemte platforme.</a:t>
            </a:r>
            <a:endParaRPr b="0" lang="en-US" sz="1200" spc="-1" strike="noStrike">
              <a:solidFill>
                <a:srgbClr val="000000"/>
              </a:solidFill>
              <a:latin typeface="Arial"/>
            </a:endParaRPr>
          </a:p>
          <a:p>
            <a:pPr>
              <a:lnSpc>
                <a:spcPct val="100000"/>
              </a:lnSpc>
              <a:spcBef>
                <a:spcPts val="1500"/>
              </a:spcBef>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SaaS</a:t>
            </a:r>
            <a:endParaRPr b="0" lang="en-US" sz="2400" spc="-1" strike="noStrike">
              <a:solidFill>
                <a:srgbClr val="000000"/>
              </a:solidFill>
              <a:latin typeface="Arial"/>
            </a:endParaRPr>
          </a:p>
        </p:txBody>
      </p:sp>
      <p:pic>
        <p:nvPicPr>
          <p:cNvPr id="157" name="Google Shape;85;p12" descr=""/>
          <p:cNvPicPr/>
          <p:nvPr/>
        </p:nvPicPr>
        <p:blipFill>
          <a:blip r:embed="rId1"/>
          <a:stretch/>
        </p:blipFill>
        <p:spPr>
          <a:xfrm>
            <a:off x="1020960" y="1185480"/>
            <a:ext cx="3522960" cy="4557240"/>
          </a:xfrm>
          <a:prstGeom prst="rect">
            <a:avLst/>
          </a:prstGeom>
          <a:ln w="0">
            <a:noFill/>
          </a:ln>
        </p:spPr>
      </p:pic>
      <p:sp>
        <p:nvSpPr>
          <p:cNvPr id="158" name="Google Shape;86;p12"/>
          <p:cNvSpPr/>
          <p:nvPr/>
        </p:nvSpPr>
        <p:spPr>
          <a:xfrm>
            <a:off x="3531240" y="1897200"/>
            <a:ext cx="900360" cy="4032360"/>
          </a:xfrm>
          <a:prstGeom prst="ellipse">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59" name="Google Shape;87;p12"/>
          <p:cNvSpPr/>
          <p:nvPr/>
        </p:nvSpPr>
        <p:spPr>
          <a:xfrm>
            <a:off x="4753080" y="1231560"/>
            <a:ext cx="4390560" cy="3377520"/>
          </a:xfrm>
          <a:prstGeom prst="rect">
            <a:avLst/>
          </a:prstGeom>
          <a:noFill/>
          <a:ln w="0">
            <a:noFill/>
          </a:ln>
        </p:spPr>
        <p:style>
          <a:lnRef idx="0"/>
          <a:fillRef idx="0"/>
          <a:effectRef idx="0"/>
          <a:fontRef idx="minor"/>
        </p:style>
        <p:txBody>
          <a:bodyPr lIns="90000" rIns="90000" tIns="91440" bIns="91440" anchor="t">
            <a:spAutoFit/>
          </a:bodyPr>
          <a:p>
            <a:pPr>
              <a:lnSpc>
                <a:spcPct val="160000"/>
              </a:lnSpc>
              <a:spcBef>
                <a:spcPts val="1400"/>
              </a:spcBef>
              <a:tabLst>
                <a:tab algn="l" pos="0"/>
              </a:tabLst>
            </a:pPr>
            <a:r>
              <a:rPr b="1" lang="da" sz="1650" spc="-1" strike="noStrike">
                <a:solidFill>
                  <a:srgbClr val="0d0d0d"/>
                </a:solidFill>
                <a:highlight>
                  <a:srgbClr val="ffffff"/>
                </a:highlight>
                <a:latin typeface="Roboto"/>
                <a:ea typeface="Roboto"/>
              </a:rPr>
              <a:t>SaaS (Software as a Service)</a:t>
            </a:r>
            <a:endParaRPr b="0" lang="en-US" sz="1650" spc="-1" strike="noStrike">
              <a:solidFill>
                <a:srgbClr val="000000"/>
              </a:solidFill>
              <a:latin typeface="Arial"/>
            </a:endParaRPr>
          </a:p>
          <a:p>
            <a:pPr marL="457200" indent="-304920">
              <a:lnSpc>
                <a:spcPct val="115000"/>
              </a:lnSpc>
              <a:spcBef>
                <a:spcPts val="400"/>
              </a:spcBef>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Definition: SaaS er software, der leveres over internettet og er tilgængelig via en webbrowser. Brugeren abonnerer på softwaren i stedet for at eje den.</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Eksempler: Google Workspace, Microsoft Office 365</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Fordele: Let adgang fra enhver enhed, ingen installations- eller vedligeholdelsesomkostninger, ofte opdateret.</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Ulemper: Mindre kontrol over data, afhængighed af internetforbindelse, potentielle bekymringer omkring datasikkerhed.</a:t>
            </a:r>
            <a:endParaRPr b="0" lang="en-US" sz="1200" spc="-1" strike="noStrike">
              <a:solidFill>
                <a:srgbClr val="000000"/>
              </a:solidFill>
              <a:latin typeface="Arial"/>
            </a:endParaRPr>
          </a:p>
          <a:p>
            <a:pPr>
              <a:lnSpc>
                <a:spcPct val="100000"/>
              </a:lnSpc>
              <a:spcBef>
                <a:spcPts val="1500"/>
              </a:spcBef>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Bil analogi</a:t>
            </a:r>
            <a:endParaRPr b="0" lang="en-US" sz="2400" spc="-1" strike="noStrike">
              <a:solidFill>
                <a:srgbClr val="000000"/>
              </a:solidFill>
              <a:latin typeface="Arial"/>
            </a:endParaRPr>
          </a:p>
        </p:txBody>
      </p:sp>
      <p:sp>
        <p:nvSpPr>
          <p:cNvPr id="161" name="Google Shape;93;p13"/>
          <p:cNvSpPr/>
          <p:nvPr/>
        </p:nvSpPr>
        <p:spPr>
          <a:xfrm>
            <a:off x="743040" y="1174680"/>
            <a:ext cx="548568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1600" spc="-1" strike="noStrike">
                <a:solidFill>
                  <a:schemeClr val="dk1"/>
                </a:solidFill>
                <a:latin typeface="Verdana"/>
                <a:ea typeface="Verdana"/>
              </a:rPr>
              <a:t>Behov: skal kunne transporteres i bil fra A til B</a:t>
            </a:r>
            <a:endParaRPr b="0" lang="en-US" sz="1600" spc="-1" strike="noStrike">
              <a:solidFill>
                <a:srgbClr val="000000"/>
              </a:solidFill>
              <a:latin typeface="Arial"/>
            </a:endParaRPr>
          </a:p>
        </p:txBody>
      </p:sp>
      <p:graphicFrame>
        <p:nvGraphicFramePr>
          <p:cNvPr id="162" name="Google Shape;94;p13"/>
          <p:cNvGraphicFramePr/>
          <p:nvPr/>
        </p:nvGraphicFramePr>
        <p:xfrm>
          <a:off x="952560" y="1981080"/>
          <a:ext cx="7237800" cy="2574360"/>
        </p:xfrm>
        <a:graphic>
          <a:graphicData uri="http://schemas.openxmlformats.org/drawingml/2006/table">
            <a:tbl>
              <a:tblPr/>
              <a:tblGrid>
                <a:gridCol w="2412720"/>
                <a:gridCol w="2412720"/>
                <a:gridCol w="2412720"/>
              </a:tblGrid>
              <a:tr h="380880">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ejer bilen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står for alle udgifter: anskaffelsespris, vedligeholdelse, forsikring, brændstof / el</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On-Prem</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380880">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leaser bilen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står for visse udgifter: dæk, forsikring, </a:t>
                      </a:r>
                      <a:r>
                        <a:rPr b="0" lang="da" sz="1400" spc="-1" strike="noStrike">
                          <a:solidFill>
                            <a:schemeClr val="dk1"/>
                          </a:solidFill>
                          <a:latin typeface="Arial"/>
                          <a:ea typeface="Arial"/>
                        </a:rPr>
                        <a:t>brændstof / el</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IaaS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380880">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lejer bilen</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står kun for leje, brændstof / el. </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PaaS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r h="380880">
                <a:tc>
                  <a:txBody>
                    <a:bodyPr lIns="91080" rIns="91080" anchor="t">
                      <a:noAutofit/>
                    </a:bodyPr>
                    <a:p>
                      <a:pPr>
                        <a:lnSpc>
                          <a:spcPct val="100000"/>
                        </a:lnSpc>
                        <a:tabLst>
                          <a:tab algn="l" pos="0"/>
                        </a:tabLst>
                      </a:pPr>
                      <a:r>
                        <a:rPr b="0" lang="da" sz="1400" spc="-1" strike="noStrike">
                          <a:solidFill>
                            <a:srgbClr val="000000"/>
                          </a:solidFill>
                          <a:latin typeface="Arial"/>
                          <a:ea typeface="Arial"/>
                        </a:rPr>
                        <a:t>Du kører taxa</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pay-as-you-go</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c>
                  <a:txBody>
                    <a:bodyPr lIns="91080" rIns="91080" anchor="t">
                      <a:noAutofit/>
                    </a:bodyPr>
                    <a:p>
                      <a:pPr>
                        <a:lnSpc>
                          <a:spcPct val="100000"/>
                        </a:lnSpc>
                        <a:tabLst>
                          <a:tab algn="l" pos="0"/>
                        </a:tabLst>
                      </a:pPr>
                      <a:r>
                        <a:rPr b="0" lang="da" sz="1400" spc="-1" strike="noStrike">
                          <a:solidFill>
                            <a:srgbClr val="000000"/>
                          </a:solidFill>
                          <a:latin typeface="Arial"/>
                          <a:ea typeface="Arial"/>
                        </a:rPr>
                        <a:t>SaaS</a:t>
                      </a:r>
                      <a:endParaRPr b="0" lang="en-US" sz="1400" spc="-1" strike="noStrike">
                        <a:solidFill>
                          <a:srgbClr val="000000"/>
                        </a:solidFill>
                        <a:latin typeface="Arial"/>
                      </a:endParaRPr>
                    </a:p>
                  </a:txBody>
                  <a:tcPr anchor="t" marL="91080" marR="91080">
                    <a:lnL w="9360">
                      <a:solidFill>
                        <a:srgbClr val="9e9e9e"/>
                      </a:solidFill>
                      <a:prstDash val="solid"/>
                    </a:lnL>
                    <a:lnR w="9360">
                      <a:solidFill>
                        <a:srgbClr val="9e9e9e"/>
                      </a:solidFill>
                      <a:prstDash val="solid"/>
                    </a:lnR>
                    <a:lnT w="9360">
                      <a:solidFill>
                        <a:srgbClr val="9e9e9e"/>
                      </a:solidFill>
                      <a:prstDash val="solid"/>
                    </a:lnT>
                    <a:lnB w="9360">
                      <a:solidFill>
                        <a:srgbClr val="9e9e9e"/>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Baas</a:t>
            </a:r>
            <a:endParaRPr b="0" lang="en-US" sz="2400" spc="-1" strike="noStrike">
              <a:solidFill>
                <a:srgbClr val="000000"/>
              </a:solidFill>
              <a:latin typeface="Arial"/>
            </a:endParaRPr>
          </a:p>
        </p:txBody>
      </p:sp>
      <p:sp>
        <p:nvSpPr>
          <p:cNvPr id="164" name="PlaceHolder 2"/>
          <p:cNvSpPr>
            <a:spLocks noGrp="1"/>
          </p:cNvSpPr>
          <p:nvPr>
            <p:ph/>
          </p:nvPr>
        </p:nvSpPr>
        <p:spPr>
          <a:xfrm>
            <a:off x="4572000" y="1107000"/>
            <a:ext cx="3942720" cy="4697640"/>
          </a:xfrm>
          <a:prstGeom prst="rect">
            <a:avLst/>
          </a:prstGeom>
          <a:noFill/>
          <a:ln w="0">
            <a:noFill/>
          </a:ln>
        </p:spPr>
        <p:txBody>
          <a:bodyPr lIns="90000" rIns="90000" tIns="91440" bIns="91440" anchor="t">
            <a:noAutofit/>
          </a:bodyPr>
          <a:p>
            <a:pPr indent="0">
              <a:lnSpc>
                <a:spcPct val="160000"/>
              </a:lnSpc>
              <a:spcBef>
                <a:spcPts val="1400"/>
              </a:spcBef>
              <a:buNone/>
              <a:tabLst>
                <a:tab algn="l" pos="0"/>
              </a:tabLst>
            </a:pPr>
            <a:r>
              <a:rPr b="1" lang="da" sz="1650" spc="-1" strike="noStrike">
                <a:solidFill>
                  <a:srgbClr val="0d0d0d"/>
                </a:solidFill>
                <a:highlight>
                  <a:srgbClr val="ffffff"/>
                </a:highlight>
                <a:latin typeface="Roboto"/>
                <a:ea typeface="Roboto"/>
              </a:rPr>
              <a:t>BaaS (Backend as a Service API)</a:t>
            </a:r>
            <a:endParaRPr b="0" lang="en-US" sz="1650" spc="-1" strike="noStrike">
              <a:solidFill>
                <a:srgbClr val="000000"/>
              </a:solidFill>
              <a:latin typeface="Arial"/>
            </a:endParaRPr>
          </a:p>
          <a:p>
            <a:pPr marL="457200" indent="-304920">
              <a:lnSpc>
                <a:spcPct val="115000"/>
              </a:lnSpc>
              <a:spcBef>
                <a:spcPts val="400"/>
              </a:spcBef>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Definition: BaaS er en cloud-service model, der tilbyder udviklere en måde at forbinde deres applikationers frontend til backend cloud storage og processeringsfunktioner gennem et sæt af API'er.</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Rettet mod mobil- og web applikationsudviklere ved at tilbyde en måde at forbinde deres applikationer til backend cloud-lagringsløsninger og API'er</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Eksempler: Firebase, AWS Amplify, Azure Mobile Services.</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Fordele: Hurtigere app-udvikling, skalerbar backend-infrastruktur, indbyggede funktioner såsom brugerautentifikation og databasemanagement.</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0" lang="da" sz="1200" spc="-1" strike="noStrike">
                <a:solidFill>
                  <a:srgbClr val="0d0d0d"/>
                </a:solidFill>
                <a:highlight>
                  <a:srgbClr val="ffffff"/>
                </a:highlight>
                <a:latin typeface="Roboto"/>
                <a:ea typeface="Roboto"/>
              </a:rPr>
              <a:t>Ulemper: Mindre kontrol over backend-logikken, afhængighed af serviceudbyderens stabilitet og sikkerhed.</a:t>
            </a:r>
            <a:endParaRPr b="0" lang="en-US" sz="120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165" name="Google Shape;101;p14" descr=""/>
          <p:cNvPicPr/>
          <p:nvPr/>
        </p:nvPicPr>
        <p:blipFill>
          <a:blip r:embed="rId1"/>
          <a:stretch/>
        </p:blipFill>
        <p:spPr>
          <a:xfrm>
            <a:off x="647640" y="1447920"/>
            <a:ext cx="3529800" cy="22978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En verden med mange forkortelser… </a:t>
            </a:r>
            <a:endParaRPr b="0" lang="en-US" sz="2400" spc="-1" strike="noStrike">
              <a:solidFill>
                <a:srgbClr val="000000"/>
              </a:solidFill>
              <a:latin typeface="Arial"/>
            </a:endParaRPr>
          </a:p>
        </p:txBody>
      </p:sp>
      <p:sp>
        <p:nvSpPr>
          <p:cNvPr id="167" name="PlaceHolder 2"/>
          <p:cNvSpPr>
            <a:spLocks noGrp="1"/>
          </p:cNvSpPr>
          <p:nvPr>
            <p:ph/>
          </p:nvPr>
        </p:nvSpPr>
        <p:spPr>
          <a:xfrm>
            <a:off x="571680" y="1107000"/>
            <a:ext cx="7943400" cy="4697640"/>
          </a:xfrm>
          <a:prstGeom prst="rect">
            <a:avLst/>
          </a:prstGeom>
          <a:noFill/>
          <a:ln w="0">
            <a:noFill/>
          </a:ln>
        </p:spPr>
        <p:txBody>
          <a:bodyPr lIns="90000" rIns="90000" tIns="91440" bIns="91440" anchor="t">
            <a:noAutofit/>
          </a:bodyPr>
          <a:p>
            <a:pPr marL="457200" indent="-304920">
              <a:lnSpc>
                <a:spcPct val="115000"/>
              </a:lnSpc>
              <a:spcBef>
                <a:spcPts val="1500"/>
              </a:spcBef>
              <a:buClr>
                <a:srgbClr val="0d0d0d"/>
              </a:buClr>
              <a:buFont typeface="Roboto"/>
              <a:buChar char="●"/>
            </a:pPr>
            <a:r>
              <a:rPr b="1" lang="da" sz="1200" spc="-1" strike="noStrike">
                <a:solidFill>
                  <a:srgbClr val="0d0d0d"/>
                </a:solidFill>
                <a:highlight>
                  <a:srgbClr val="ffffff"/>
                </a:highlight>
                <a:latin typeface="Roboto"/>
                <a:ea typeface="Roboto"/>
              </a:rPr>
              <a:t>FaaS (Function as a Service)</a:t>
            </a:r>
            <a:r>
              <a:rPr b="0" lang="da" sz="1200" spc="-1" strike="noStrike">
                <a:solidFill>
                  <a:srgbClr val="0d0d0d"/>
                </a:solidFill>
                <a:highlight>
                  <a:srgbClr val="ffffff"/>
                </a:highlight>
                <a:latin typeface="Roboto"/>
                <a:ea typeface="Roboto"/>
              </a:rPr>
              <a:t> - En cloud service model, der giver brugerne mulighed for at køre kode som reaktion på begivenheder uden at skulle administrere servere. Dette er især nyttigt for mikroservice-arkitekturer og event-drevne applikationer.</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Hybrid Cloud</a:t>
            </a:r>
            <a:r>
              <a:rPr b="0" lang="da" sz="1200" spc="-1" strike="noStrike">
                <a:solidFill>
                  <a:srgbClr val="0d0d0d"/>
                </a:solidFill>
                <a:highlight>
                  <a:srgbClr val="ffffff"/>
                </a:highlight>
                <a:latin typeface="Roboto"/>
                <a:ea typeface="Roboto"/>
              </a:rPr>
              <a:t> - En IT-arkitektur, der kombinerer on-premises infrastruktur med cloud-baserede tjenester, hvilket giver virksomheder fleksibilitet til at køre applikationer i det mest passende miljø.</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Multi-Cloud</a:t>
            </a:r>
            <a:r>
              <a:rPr b="0" lang="da" sz="1200" spc="-1" strike="noStrike">
                <a:solidFill>
                  <a:srgbClr val="0d0d0d"/>
                </a:solidFill>
                <a:highlight>
                  <a:srgbClr val="ffffff"/>
                </a:highlight>
                <a:latin typeface="Roboto"/>
                <a:ea typeface="Roboto"/>
              </a:rPr>
              <a:t> - Brugen af flere cloud-tjenester fra forskellige udbydere. Dette kan hjælpe med at reducere afhængigheden af en enkelt leverandør, optimere omkostninger og forbedre redundans.</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Cloud-Native Applications</a:t>
            </a:r>
            <a:r>
              <a:rPr b="0" lang="da" sz="1200" spc="-1" strike="noStrike">
                <a:solidFill>
                  <a:srgbClr val="0d0d0d"/>
                </a:solidFill>
                <a:highlight>
                  <a:srgbClr val="ffffff"/>
                </a:highlight>
                <a:latin typeface="Roboto"/>
                <a:ea typeface="Roboto"/>
              </a:rPr>
              <a:t> - Applikationer, der er designet og udviklet til at køre i clouden, udnyttende cloud-teknologiers fordele som skalerbarhed, fleksibilitet og høj tilgængelighed.</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Serverless Computing</a:t>
            </a:r>
            <a:r>
              <a:rPr b="0" lang="da" sz="1200" spc="-1" strike="noStrike">
                <a:solidFill>
                  <a:srgbClr val="0d0d0d"/>
                </a:solidFill>
                <a:highlight>
                  <a:srgbClr val="ffffff"/>
                </a:highlight>
                <a:latin typeface="Roboto"/>
                <a:ea typeface="Roboto"/>
              </a:rPr>
              <a:t> - En model, der tager FaaS et skridt videre ved at automatisere infrastrukturadministrationen fuldstændigt, så udviklere kan fokusere på kode, mens cloududbyderen håndterer servere, lagring, og netværk.</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Edge Computing</a:t>
            </a:r>
            <a:r>
              <a:rPr b="0" lang="da" sz="1200" spc="-1" strike="noStrike">
                <a:solidFill>
                  <a:srgbClr val="0d0d0d"/>
                </a:solidFill>
                <a:highlight>
                  <a:srgbClr val="ffffff"/>
                </a:highlight>
                <a:latin typeface="Roboto"/>
                <a:ea typeface="Roboto"/>
              </a:rPr>
              <a:t> - En model, der bringer dataindsamling og analyse tættere på datakilden (f.eks. IoT-enheder), hvilket reducerer latenstid og kan forbedre ydeevnen for visse applikationer.</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Azure App Services (PaaS)</a:t>
            </a:r>
            <a:endParaRPr b="0" lang="en-US" sz="2400" spc="-1" strike="noStrike">
              <a:solidFill>
                <a:srgbClr val="000000"/>
              </a:solidFill>
              <a:latin typeface="Arial"/>
            </a:endParaRPr>
          </a:p>
        </p:txBody>
      </p:sp>
      <p:sp>
        <p:nvSpPr>
          <p:cNvPr id="169" name="Google Shape;113;p16"/>
          <p:cNvSpPr/>
          <p:nvPr/>
        </p:nvSpPr>
        <p:spPr>
          <a:xfrm>
            <a:off x="4362480" y="1222200"/>
            <a:ext cx="4095360" cy="2015280"/>
          </a:xfrm>
          <a:prstGeom prst="rect">
            <a:avLst/>
          </a:prstGeom>
          <a:noFill/>
          <a:ln w="0">
            <a:noFill/>
          </a:ln>
        </p:spPr>
        <p:style>
          <a:lnRef idx="0"/>
          <a:fillRef idx="0"/>
          <a:effectRef idx="0"/>
          <a:fontRef idx="minor"/>
        </p:style>
        <p:txBody>
          <a:bodyPr lIns="90000" rIns="90000" tIns="91440" bIns="91440" anchor="t">
            <a:noAutofit/>
          </a:bodyPr>
          <a:p>
            <a:pPr marL="457200" indent="-304920">
              <a:lnSpc>
                <a:spcPct val="115000"/>
              </a:lnSpc>
              <a:spcBef>
                <a:spcPts val="1500"/>
              </a:spcBef>
              <a:buClr>
                <a:srgbClr val="0d0d0d"/>
              </a:buClr>
              <a:buFont typeface="Roboto"/>
              <a:buChar char="●"/>
            </a:pPr>
            <a:r>
              <a:rPr b="1" lang="da" sz="1200" spc="-1" strike="noStrike">
                <a:solidFill>
                  <a:srgbClr val="0d0d0d"/>
                </a:solidFill>
                <a:highlight>
                  <a:srgbClr val="ffffff"/>
                </a:highlight>
                <a:latin typeface="Roboto"/>
                <a:ea typeface="Roboto"/>
              </a:rPr>
              <a:t>Web Apps:</a:t>
            </a:r>
            <a:r>
              <a:rPr b="0" lang="da" sz="1200" spc="-1" strike="noStrike">
                <a:solidFill>
                  <a:srgbClr val="0d0d0d"/>
                </a:solidFill>
                <a:highlight>
                  <a:srgbClr val="ffffff"/>
                </a:highlight>
                <a:latin typeface="Roboto"/>
                <a:ea typeface="Roboto"/>
              </a:rPr>
              <a:t> Designet til at hoste webapplikationer, hvilket gør det muligt for udviklere at bygge og udrulle websteder og webapplikationer</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API Apps:</a:t>
            </a:r>
            <a:r>
              <a:rPr b="0" lang="da" sz="1200" spc="-1" strike="noStrike">
                <a:solidFill>
                  <a:srgbClr val="0d0d0d"/>
                </a:solidFill>
                <a:highlight>
                  <a:srgbClr val="ffffff"/>
                </a:highlight>
                <a:latin typeface="Roboto"/>
                <a:ea typeface="Roboto"/>
              </a:rPr>
              <a:t> Gør det nemt at bygge og udrulle RESTful API'er.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Mobile Apps:</a:t>
            </a:r>
            <a:r>
              <a:rPr b="0" lang="da" sz="1200" spc="-1" strike="noStrike">
                <a:solidFill>
                  <a:srgbClr val="0d0d0d"/>
                </a:solidFill>
                <a:highlight>
                  <a:srgbClr val="ffffff"/>
                </a:highlight>
                <a:latin typeface="Roboto"/>
                <a:ea typeface="Roboto"/>
              </a:rPr>
              <a:t> Tilbyder en platform til at bygge mobilapp-backends, som kan integreres med iOS, Android, og Windows apps.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Function Apps:</a:t>
            </a:r>
            <a:r>
              <a:rPr b="0" lang="da" sz="1200" spc="-1" strike="noStrike">
                <a:solidFill>
                  <a:srgbClr val="0d0d0d"/>
                </a:solidFill>
                <a:highlight>
                  <a:srgbClr val="ffffff"/>
                </a:highlight>
                <a:latin typeface="Roboto"/>
                <a:ea typeface="Roboto"/>
              </a:rPr>
              <a:t> er en serverless compute-tjeneste der giver mulighed for at køre stykker af kode, eller "funktioner", i respons til hændelser.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Logic Apps:</a:t>
            </a:r>
            <a:r>
              <a:rPr b="0" lang="da" sz="1200" spc="-1" strike="noStrike">
                <a:solidFill>
                  <a:srgbClr val="0d0d0d"/>
                </a:solidFill>
                <a:highlight>
                  <a:srgbClr val="ffffff"/>
                </a:highlight>
                <a:latin typeface="Roboto"/>
                <a:ea typeface="Roboto"/>
              </a:rPr>
              <a:t> giver et visuelt design-interface til at opbygge komplekse arbejdsgange med foruddefinerede logikblokke og connectorer til populære tjenester og systemer (MS produkter + 3. parts tjenester)</a:t>
            </a:r>
            <a:endParaRPr b="0" lang="en-US" sz="1200" spc="-1" strike="noStrike">
              <a:solidFill>
                <a:srgbClr val="000000"/>
              </a:solidFill>
              <a:latin typeface="Arial"/>
            </a:endParaRPr>
          </a:p>
        </p:txBody>
      </p:sp>
      <p:pic>
        <p:nvPicPr>
          <p:cNvPr id="170" name="Google Shape;114;p16" descr=""/>
          <p:cNvPicPr/>
          <p:nvPr/>
        </p:nvPicPr>
        <p:blipFill>
          <a:blip r:embed="rId1"/>
          <a:stretch/>
        </p:blipFill>
        <p:spPr>
          <a:xfrm>
            <a:off x="619200" y="1390680"/>
            <a:ext cx="3818880" cy="1847160"/>
          </a:xfrm>
          <a:prstGeom prst="rect">
            <a:avLst/>
          </a:prstGeom>
          <a:ln w="0">
            <a:noFill/>
          </a:ln>
        </p:spPr>
      </p:pic>
      <p:sp>
        <p:nvSpPr>
          <p:cNvPr id="171" name="Google Shape;115;p16"/>
          <p:cNvSpPr/>
          <p:nvPr/>
        </p:nvSpPr>
        <p:spPr>
          <a:xfrm>
            <a:off x="2331360" y="1581840"/>
            <a:ext cx="1096920" cy="596520"/>
          </a:xfrm>
          <a:prstGeom prst="ellipse">
            <a:avLst/>
          </a:prstGeom>
          <a:noFill/>
          <a:ln w="28575">
            <a:solidFill>
              <a:srgbClr val="ffff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Azure App Service - web app</a:t>
            </a:r>
            <a:endParaRPr b="0" lang="en-US" sz="2400" spc="-1" strike="noStrike">
              <a:solidFill>
                <a:srgbClr val="000000"/>
              </a:solidFill>
              <a:latin typeface="Arial"/>
            </a:endParaRPr>
          </a:p>
        </p:txBody>
      </p:sp>
      <p:sp>
        <p:nvSpPr>
          <p:cNvPr id="173" name="Google Shape;121;p17"/>
          <p:cNvSpPr/>
          <p:nvPr/>
        </p:nvSpPr>
        <p:spPr>
          <a:xfrm>
            <a:off x="4362480" y="1222200"/>
            <a:ext cx="4095360" cy="2015280"/>
          </a:xfrm>
          <a:prstGeom prst="rect">
            <a:avLst/>
          </a:prstGeom>
          <a:noFill/>
          <a:ln w="0">
            <a:noFill/>
          </a:ln>
        </p:spPr>
        <p:style>
          <a:lnRef idx="0"/>
          <a:fillRef idx="0"/>
          <a:effectRef idx="0"/>
          <a:fontRef idx="minor"/>
        </p:style>
        <p:txBody>
          <a:bodyPr lIns="90000" rIns="90000" tIns="91440" bIns="91440" anchor="t">
            <a:noAutofit/>
          </a:bodyPr>
          <a:p>
            <a:pPr marL="457200" indent="-304920">
              <a:lnSpc>
                <a:spcPct val="115000"/>
              </a:lnSpc>
              <a:spcBef>
                <a:spcPts val="1500"/>
              </a:spcBef>
              <a:buClr>
                <a:srgbClr val="0d0d0d"/>
              </a:buClr>
              <a:buFont typeface="Roboto"/>
              <a:buChar char="●"/>
            </a:pPr>
            <a:r>
              <a:rPr b="0" lang="da" sz="1200" spc="-1" strike="noStrike">
                <a:solidFill>
                  <a:srgbClr val="0d0d0d"/>
                </a:solidFill>
                <a:highlight>
                  <a:srgbClr val="ffffff"/>
                </a:highlight>
                <a:latin typeface="Roboto"/>
                <a:ea typeface="Roboto"/>
              </a:rPr>
              <a:t>Azure App Service er en fuldt administreret platform (PaaS) til hosting og skalering af web, mobil, API og serverless apps.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0" lang="da" sz="1200" spc="-1" strike="noStrike">
                <a:solidFill>
                  <a:srgbClr val="0d0d0d"/>
                </a:solidFill>
                <a:highlight>
                  <a:srgbClr val="ffffff"/>
                </a:highlight>
                <a:latin typeface="Roboto"/>
                <a:ea typeface="Roboto"/>
              </a:rPr>
              <a:t>Overvågnings (monitoring) værktøjer:</a:t>
            </a:r>
            <a:endParaRPr b="0" lang="en-US" sz="1200" spc="-1" strike="noStrike">
              <a:solidFill>
                <a:srgbClr val="000000"/>
              </a:solidFill>
              <a:latin typeface="Arial"/>
            </a:endParaRPr>
          </a:p>
          <a:p>
            <a:pPr lvl="1" marL="9144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Metrics:</a:t>
            </a:r>
            <a:r>
              <a:rPr b="0" lang="da" sz="1200" spc="-1" strike="noStrike">
                <a:solidFill>
                  <a:srgbClr val="0d0d0d"/>
                </a:solidFill>
                <a:highlight>
                  <a:srgbClr val="ffffff"/>
                </a:highlight>
                <a:latin typeface="Roboto"/>
                <a:ea typeface="Roboto"/>
              </a:rPr>
              <a:t> måler ressourcebrug og ydeevne i realtid, såsom CPU-brug og netværkstrafik.</a:t>
            </a:r>
            <a:endParaRPr b="0" lang="en-US" sz="1200" spc="-1" strike="noStrike">
              <a:solidFill>
                <a:srgbClr val="000000"/>
              </a:solidFill>
              <a:latin typeface="Arial"/>
            </a:endParaRPr>
          </a:p>
          <a:p>
            <a:pPr lvl="1" marL="9144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Application Insights:</a:t>
            </a:r>
            <a:r>
              <a:rPr b="0" lang="da" sz="1200" spc="-1" strike="noStrike">
                <a:solidFill>
                  <a:srgbClr val="0d0d0d"/>
                </a:solidFill>
                <a:highlight>
                  <a:srgbClr val="ffffff"/>
                </a:highlight>
                <a:latin typeface="Roboto"/>
                <a:ea typeface="Roboto"/>
              </a:rPr>
              <a:t> overvågning af applikationsperformance, der indsamler data om appens brug, fejl og ydeevne for at hjælpe med fejlfinding og optimering.</a:t>
            </a:r>
            <a:endParaRPr b="0" lang="en-US" sz="1200" spc="-1" strike="noStrike">
              <a:solidFill>
                <a:srgbClr val="000000"/>
              </a:solidFill>
              <a:latin typeface="Arial"/>
            </a:endParaRPr>
          </a:p>
          <a:p>
            <a:pPr lvl="1" marL="9144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Logs:</a:t>
            </a:r>
            <a:r>
              <a:rPr b="0" lang="da" sz="1200" spc="-1" strike="noStrike">
                <a:solidFill>
                  <a:srgbClr val="0d0d0d"/>
                </a:solidFill>
                <a:highlight>
                  <a:srgbClr val="ffffff"/>
                </a:highlight>
                <a:latin typeface="Roboto"/>
                <a:ea typeface="Roboto"/>
              </a:rPr>
              <a:t> oversigt over begivenheder</a:t>
            </a:r>
            <a:endParaRPr b="0" lang="en-US" sz="1200" spc="-1" strike="noStrike">
              <a:solidFill>
                <a:srgbClr val="000000"/>
              </a:solidFill>
              <a:latin typeface="Arial"/>
            </a:endParaRPr>
          </a:p>
          <a:p>
            <a:pPr lvl="1" marL="914400" indent="-304920">
              <a:lnSpc>
                <a:spcPct val="115000"/>
              </a:lnSpc>
              <a:buClr>
                <a:srgbClr val="0d0d0d"/>
              </a:buClr>
              <a:buFont typeface="Roboto"/>
              <a:buChar char="○"/>
            </a:pPr>
            <a:r>
              <a:rPr b="1" lang="da" sz="1200" spc="-1" strike="noStrike">
                <a:solidFill>
                  <a:srgbClr val="0d0d0d"/>
                </a:solidFill>
                <a:highlight>
                  <a:srgbClr val="ffffff"/>
                </a:highlight>
                <a:latin typeface="Roboto"/>
                <a:ea typeface="Roboto"/>
              </a:rPr>
              <a:t>Resource Health:</a:t>
            </a:r>
            <a:r>
              <a:rPr b="0" lang="da" sz="1200" spc="-1" strike="noStrike">
                <a:solidFill>
                  <a:srgbClr val="0d0d0d"/>
                </a:solidFill>
                <a:highlight>
                  <a:srgbClr val="ffffff"/>
                </a:highlight>
                <a:latin typeface="Roboto"/>
                <a:ea typeface="Roboto"/>
              </a:rPr>
              <a:t> rapporterer om tilstanden af Azure-ressourcer, identificerer serviceproblemer relateret til Azure-platformen.</a:t>
            </a:r>
            <a:endParaRPr b="0" lang="en-US" sz="1200" spc="-1" strike="noStrike">
              <a:solidFill>
                <a:srgbClr val="000000"/>
              </a:solidFill>
              <a:latin typeface="Arial"/>
            </a:endParaRPr>
          </a:p>
        </p:txBody>
      </p:sp>
      <p:pic>
        <p:nvPicPr>
          <p:cNvPr id="174" name="Google Shape;122;p17" descr=""/>
          <p:cNvPicPr/>
          <p:nvPr/>
        </p:nvPicPr>
        <p:blipFill>
          <a:blip r:embed="rId1"/>
          <a:stretch/>
        </p:blipFill>
        <p:spPr>
          <a:xfrm>
            <a:off x="387720" y="1246320"/>
            <a:ext cx="4033440" cy="1967040"/>
          </a:xfrm>
          <a:prstGeom prst="rect">
            <a:avLst/>
          </a:prstGeom>
          <a:ln w="0">
            <a:noFill/>
          </a:ln>
        </p:spPr>
      </p:pic>
      <p:sp>
        <p:nvSpPr>
          <p:cNvPr id="175" name="Google Shape;123;p17"/>
          <p:cNvSpPr/>
          <p:nvPr/>
        </p:nvSpPr>
        <p:spPr>
          <a:xfrm>
            <a:off x="1026720" y="3278880"/>
            <a:ext cx="3656880" cy="54756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1200" spc="-1" strike="noStrike">
                <a:solidFill>
                  <a:schemeClr val="dk1"/>
                </a:solidFill>
                <a:latin typeface="Verdana"/>
                <a:ea typeface="Verdana"/>
              </a:rPr>
              <a:t>Bemærk: kun ‘Production Slot’ i gratis versionen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pic>
        <p:nvPicPr>
          <p:cNvPr id="177" name="Google Shape;129;p18" descr=""/>
          <p:cNvPicPr/>
          <p:nvPr/>
        </p:nvPicPr>
        <p:blipFill>
          <a:blip r:embed="rId1"/>
          <a:stretch/>
        </p:blipFill>
        <p:spPr>
          <a:xfrm>
            <a:off x="719280" y="1108080"/>
            <a:ext cx="7413840" cy="1095840"/>
          </a:xfrm>
          <a:prstGeom prst="rect">
            <a:avLst/>
          </a:prstGeom>
          <a:ln w="0">
            <a:noFill/>
          </a:ln>
          <a:effectLst>
            <a:outerShdw algn="bl" blurRad="57240" dir="5400000" dist="19080" rotWithShape="0">
              <a:srgbClr val="000000">
                <a:alpha val="50000"/>
              </a:srgbClr>
            </a:outerShdw>
          </a:effectLst>
        </p:spPr>
      </p:pic>
      <p:pic>
        <p:nvPicPr>
          <p:cNvPr id="178" name="Google Shape;130;p18" descr=""/>
          <p:cNvPicPr/>
          <p:nvPr/>
        </p:nvPicPr>
        <p:blipFill>
          <a:blip r:embed="rId2"/>
          <a:stretch/>
        </p:blipFill>
        <p:spPr>
          <a:xfrm>
            <a:off x="719280" y="2509560"/>
            <a:ext cx="4726440" cy="3679920"/>
          </a:xfrm>
          <a:prstGeom prst="rect">
            <a:avLst/>
          </a:prstGeom>
          <a:ln w="0">
            <a:noFill/>
          </a:ln>
          <a:effectLst>
            <a:outerShdw algn="bl" blurRad="57240" dir="5400000" dist="19080" rotWithShape="0">
              <a:srgbClr val="000000">
                <a:alpha val="50000"/>
              </a:srgbClr>
            </a:outerShdw>
          </a:effectLst>
        </p:spPr>
      </p:pic>
      <p:sp>
        <p:nvSpPr>
          <p:cNvPr id="179" name="Google Shape;131;p18"/>
          <p:cNvSpPr/>
          <p:nvPr/>
        </p:nvSpPr>
        <p:spPr>
          <a:xfrm>
            <a:off x="1064520" y="1456200"/>
            <a:ext cx="685080" cy="602640"/>
          </a:xfrm>
          <a:prstGeom prst="ellipse">
            <a:avLst/>
          </a:prstGeom>
          <a:noFill/>
          <a:ln w="19050">
            <a:solidFill>
              <a:srgbClr val="cc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80" name="Google Shape;132;p18"/>
          <p:cNvSpPr/>
          <p:nvPr/>
        </p:nvSpPr>
        <p:spPr>
          <a:xfrm>
            <a:off x="1642680" y="3558240"/>
            <a:ext cx="1085040" cy="310320"/>
          </a:xfrm>
          <a:prstGeom prst="ellipse">
            <a:avLst/>
          </a:prstGeom>
          <a:noFill/>
          <a:ln w="19050">
            <a:solidFill>
              <a:srgbClr val="cc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81" name="Google Shape;133;p18"/>
          <p:cNvSpPr/>
          <p:nvPr/>
        </p:nvSpPr>
        <p:spPr>
          <a:xfrm>
            <a:off x="685440" y="876600"/>
            <a:ext cx="2999160" cy="243720"/>
          </a:xfrm>
          <a:prstGeom prst="rect">
            <a:avLst/>
          </a:prstGeom>
          <a:noFill/>
          <a:ln w="0">
            <a:noFill/>
          </a:ln>
        </p:spPr>
        <p:style>
          <a:lnRef idx="0"/>
          <a:fillRef idx="0"/>
          <a:effectRef idx="0"/>
          <a:fontRef idx="minor"/>
        </p:style>
        <p:txBody>
          <a:bodyPr lIns="90000" rIns="90000" tIns="61200" bIns="61200" anchor="t">
            <a:spAutoFit/>
          </a:bodyPr>
          <a:p>
            <a:pPr>
              <a:lnSpc>
                <a:spcPct val="100000"/>
              </a:lnSpc>
              <a:tabLst>
                <a:tab algn="l" pos="0"/>
              </a:tabLst>
            </a:pPr>
            <a:r>
              <a:rPr b="0" lang="da" sz="800" spc="-1" strike="noStrike">
                <a:solidFill>
                  <a:srgbClr val="000000"/>
                </a:solidFill>
                <a:latin typeface="Arial"/>
                <a:ea typeface="Arial"/>
              </a:rPr>
              <a:t>Log ind på Azure Portal (https://portal.azure.com).</a:t>
            </a:r>
            <a:endParaRPr b="0" lang="en-US" sz="800" spc="-1" strike="noStrike">
              <a:solidFill>
                <a:srgbClr val="000000"/>
              </a:solidFill>
              <a:latin typeface="Arial"/>
            </a:endParaRPr>
          </a:p>
        </p:txBody>
      </p:sp>
      <p:cxnSp>
        <p:nvCxnSpPr>
          <p:cNvPr id="182" name="Google Shape;134;p18"/>
          <p:cNvCxnSpPr>
            <a:stCxn id="179" idx="4"/>
            <a:endCxn id="180" idx="0"/>
          </p:cNvCxnSpPr>
          <p:nvPr/>
        </p:nvCxnSpPr>
        <p:spPr>
          <a:xfrm flipH="1" rot="16200000">
            <a:off x="1046520" y="2419200"/>
            <a:ext cx="1499760" cy="778320"/>
          </a:xfrm>
          <a:prstGeom prst="curvedConnector3">
            <a:avLst>
              <a:gd name="adj1" fmla="val 25018"/>
            </a:avLst>
          </a:prstGeom>
          <a:ln w="9525">
            <a:solidFill>
              <a:srgbClr val="cc0000"/>
            </a:solidFill>
            <a:round/>
            <a:tailEnd len="med" type="stealth" w="med"/>
          </a:ln>
        </p:spPr>
      </p:cxn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3" name="Billede 10" descr=""/>
          <p:cNvPicPr/>
          <p:nvPr/>
        </p:nvPicPr>
        <p:blipFill>
          <a:blip r:embed="rId1"/>
          <a:stretch/>
        </p:blipFill>
        <p:spPr>
          <a:xfrm>
            <a:off x="4102560" y="911880"/>
            <a:ext cx="3681000" cy="5252040"/>
          </a:xfrm>
          <a:prstGeom prst="rect">
            <a:avLst/>
          </a:prstGeom>
          <a:ln w="0">
            <a:noFill/>
          </a:ln>
        </p:spPr>
      </p:pic>
      <p:sp>
        <p:nvSpPr>
          <p:cNvPr id="184"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185" name="Google Shape;141;p19"/>
          <p:cNvSpPr/>
          <p:nvPr/>
        </p:nvSpPr>
        <p:spPr>
          <a:xfrm>
            <a:off x="876960" y="2421360"/>
            <a:ext cx="2203200" cy="29160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Alle ressourcer i et Azure-abonnement faktureres samlet</a:t>
            </a:r>
            <a:endParaRPr b="0" lang="en-US" sz="600" spc="-1" strike="noStrike">
              <a:solidFill>
                <a:srgbClr val="000000"/>
              </a:solidFill>
              <a:latin typeface="Arial"/>
            </a:endParaRPr>
          </a:p>
        </p:txBody>
      </p:sp>
      <p:cxnSp>
        <p:nvCxnSpPr>
          <p:cNvPr id="186" name="Google Shape;142;p19"/>
          <p:cNvCxnSpPr>
            <a:stCxn id="185" idx="3"/>
          </p:cNvCxnSpPr>
          <p:nvPr/>
        </p:nvCxnSpPr>
        <p:spPr>
          <a:xfrm flipV="1">
            <a:off x="3080160" y="2408400"/>
            <a:ext cx="1162800" cy="159120"/>
          </a:xfrm>
          <a:prstGeom prst="straightConnector1">
            <a:avLst/>
          </a:prstGeom>
          <a:ln w="9525">
            <a:solidFill>
              <a:srgbClr val="000000"/>
            </a:solidFill>
            <a:round/>
            <a:tailEnd len="med" type="stealth" w="med"/>
          </a:ln>
        </p:spPr>
      </p:cxnSp>
      <p:sp>
        <p:nvSpPr>
          <p:cNvPr id="187" name="Google Shape;143;p19"/>
          <p:cNvSpPr/>
          <p:nvPr/>
        </p:nvSpPr>
        <p:spPr>
          <a:xfrm>
            <a:off x="876960" y="2787120"/>
            <a:ext cx="2202840" cy="29160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En ressourcegruppe er en samling af ressourcer, der deler den samme livscyklus, tilladelser og politikker.</a:t>
            </a:r>
            <a:endParaRPr b="0" lang="en-US" sz="600" spc="-1" strike="noStrike">
              <a:solidFill>
                <a:srgbClr val="000000"/>
              </a:solidFill>
              <a:latin typeface="Arial"/>
            </a:endParaRPr>
          </a:p>
        </p:txBody>
      </p:sp>
      <p:cxnSp>
        <p:nvCxnSpPr>
          <p:cNvPr id="188" name="Google Shape;144;p19"/>
          <p:cNvCxnSpPr>
            <a:stCxn id="187" idx="3"/>
          </p:cNvCxnSpPr>
          <p:nvPr/>
        </p:nvCxnSpPr>
        <p:spPr>
          <a:xfrm flipV="1">
            <a:off x="3079800" y="2640960"/>
            <a:ext cx="1366200" cy="292320"/>
          </a:xfrm>
          <a:prstGeom prst="straightConnector1">
            <a:avLst/>
          </a:prstGeom>
          <a:ln w="9525">
            <a:solidFill>
              <a:srgbClr val="000000"/>
            </a:solidFill>
            <a:round/>
            <a:tailEnd len="med" type="stealth" w="med"/>
          </a:ln>
        </p:spPr>
      </p:cxnSp>
      <p:sp>
        <p:nvSpPr>
          <p:cNvPr id="189" name="Google Shape;145;p19"/>
          <p:cNvSpPr/>
          <p:nvPr/>
        </p:nvSpPr>
        <p:spPr>
          <a:xfrm>
            <a:off x="876960" y="3164400"/>
            <a:ext cx="2202840" cy="29160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unikt navn, som vil være en del af webappens URL (f.eks:&lt;yourappname&gt;.azurewebsites.net)</a:t>
            </a:r>
            <a:endParaRPr b="0" lang="en-US" sz="600" spc="-1" strike="noStrike">
              <a:solidFill>
                <a:srgbClr val="000000"/>
              </a:solidFill>
              <a:latin typeface="Arial"/>
            </a:endParaRPr>
          </a:p>
        </p:txBody>
      </p:sp>
      <p:cxnSp>
        <p:nvCxnSpPr>
          <p:cNvPr id="190" name="Google Shape;146;p19"/>
          <p:cNvCxnSpPr/>
          <p:nvPr/>
        </p:nvCxnSpPr>
        <p:spPr>
          <a:xfrm flipV="1">
            <a:off x="3079080" y="3017880"/>
            <a:ext cx="1132200" cy="248760"/>
          </a:xfrm>
          <a:prstGeom prst="straightConnector1">
            <a:avLst/>
          </a:prstGeom>
          <a:ln w="9525">
            <a:solidFill>
              <a:srgbClr val="000000"/>
            </a:solidFill>
            <a:round/>
            <a:tailEnd len="med" type="stealth" w="med"/>
          </a:ln>
        </p:spPr>
      </p:cxnSp>
      <p:sp>
        <p:nvSpPr>
          <p:cNvPr id="191" name="Google Shape;147;p19"/>
          <p:cNvSpPr/>
          <p:nvPr/>
        </p:nvSpPr>
        <p:spPr>
          <a:xfrm>
            <a:off x="4057920" y="3443760"/>
            <a:ext cx="43560" cy="913680"/>
          </a:xfrm>
          <a:prstGeom prst="leftBrace">
            <a:avLst>
              <a:gd name="adj1" fmla="val 50000"/>
              <a:gd name="adj2" fmla="val 50000"/>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192" name="Google Shape;148;p19"/>
          <p:cNvSpPr/>
          <p:nvPr/>
        </p:nvSpPr>
        <p:spPr>
          <a:xfrm>
            <a:off x="872280" y="3778560"/>
            <a:ext cx="2202840" cy="42480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Specifikation af runtime node</a:t>
            </a:r>
            <a:br>
              <a:rPr sz="600"/>
            </a:br>
            <a:r>
              <a:rPr b="0" lang="da" sz="600" spc="-1" strike="noStrike">
                <a:solidFill>
                  <a:srgbClr val="292827"/>
                </a:solidFill>
                <a:highlight>
                  <a:srgbClr val="ffffff"/>
                </a:highlight>
                <a:latin typeface="Consolas"/>
                <a:ea typeface="Consolas"/>
              </a:rPr>
              <a:t>Test region hastighed her:</a:t>
            </a:r>
            <a:br>
              <a:rPr sz="600"/>
            </a:br>
            <a:r>
              <a:rPr b="0" lang="da" sz="600" spc="-1" strike="noStrike" u="sng">
                <a:solidFill>
                  <a:schemeClr val="hlink"/>
                </a:solidFill>
                <a:uFillTx/>
                <a:latin typeface="Arial"/>
                <a:ea typeface="Arial"/>
                <a:hlinkClick r:id="rId2"/>
              </a:rPr>
              <a:t>https://azurespeedtest.azurewebsites.net/</a:t>
            </a:r>
            <a:endParaRPr b="0" lang="en-US" sz="600" spc="-1" strike="noStrike">
              <a:solidFill>
                <a:srgbClr val="000000"/>
              </a:solidFill>
              <a:latin typeface="Arial"/>
            </a:endParaRPr>
          </a:p>
          <a:p>
            <a:pPr>
              <a:lnSpc>
                <a:spcPct val="100000"/>
              </a:lnSpc>
              <a:tabLst>
                <a:tab algn="l" pos="0"/>
              </a:tabLst>
            </a:pPr>
            <a:endParaRPr b="0" lang="en-US" sz="600" spc="-1" strike="noStrike">
              <a:solidFill>
                <a:srgbClr val="000000"/>
              </a:solidFill>
              <a:latin typeface="Arial"/>
            </a:endParaRPr>
          </a:p>
        </p:txBody>
      </p:sp>
      <p:cxnSp>
        <p:nvCxnSpPr>
          <p:cNvPr id="193" name="Google Shape;149;p19"/>
          <p:cNvCxnSpPr/>
          <p:nvPr/>
        </p:nvCxnSpPr>
        <p:spPr>
          <a:xfrm flipV="1">
            <a:off x="3074760" y="3894840"/>
            <a:ext cx="983880" cy="1800"/>
          </a:xfrm>
          <a:prstGeom prst="straightConnector1">
            <a:avLst/>
          </a:prstGeom>
          <a:ln w="9525">
            <a:solidFill>
              <a:srgbClr val="000000"/>
            </a:solidFill>
            <a:round/>
            <a:tailEnd len="med" type="stealth" w="med"/>
          </a:ln>
        </p:spPr>
      </p:cxnSp>
      <p:sp>
        <p:nvSpPr>
          <p:cNvPr id="194" name="Google Shape;150;p19"/>
          <p:cNvSpPr/>
          <p:nvPr/>
        </p:nvSpPr>
        <p:spPr>
          <a:xfrm>
            <a:off x="774000" y="5418000"/>
            <a:ext cx="2202840" cy="32832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Pris plan.</a:t>
            </a:r>
            <a:endParaRPr b="0" lang="en-US" sz="600" spc="-1" strike="noStrike">
              <a:solidFill>
                <a:srgbClr val="000000"/>
              </a:solidFill>
              <a:latin typeface="Arial"/>
            </a:endParaRPr>
          </a:p>
          <a:p>
            <a:pPr>
              <a:lnSpc>
                <a:spcPct val="100000"/>
              </a:lnSpc>
              <a:tabLst>
                <a:tab algn="l" pos="0"/>
              </a:tabLst>
            </a:pPr>
            <a:r>
              <a:rPr b="1" lang="da" sz="600" spc="-1" strike="noStrike">
                <a:solidFill>
                  <a:srgbClr val="292827"/>
                </a:solidFill>
                <a:highlight>
                  <a:srgbClr val="ffffff"/>
                </a:highlight>
                <a:latin typeface="Consolas"/>
                <a:ea typeface="Consolas"/>
              </a:rPr>
              <a:t>VIGTIGT:</a:t>
            </a:r>
            <a:r>
              <a:rPr b="0" lang="da" sz="600" spc="-1" strike="noStrike">
                <a:solidFill>
                  <a:srgbClr val="292827"/>
                </a:solidFill>
                <a:highlight>
                  <a:srgbClr val="ffffff"/>
                </a:highlight>
                <a:latin typeface="Consolas"/>
                <a:ea typeface="Consolas"/>
              </a:rPr>
              <a:t> Vælg ‘Free F1’</a:t>
            </a:r>
            <a:endParaRPr b="0" lang="en-US" sz="600" spc="-1" strike="noStrike">
              <a:solidFill>
                <a:srgbClr val="000000"/>
              </a:solidFill>
              <a:latin typeface="Arial"/>
            </a:endParaRPr>
          </a:p>
        </p:txBody>
      </p:sp>
      <p:cxnSp>
        <p:nvCxnSpPr>
          <p:cNvPr id="195" name="Google Shape;151;p19"/>
          <p:cNvCxnSpPr/>
          <p:nvPr/>
        </p:nvCxnSpPr>
        <p:spPr>
          <a:xfrm>
            <a:off x="2976480" y="5535360"/>
            <a:ext cx="1082160" cy="69840"/>
          </a:xfrm>
          <a:prstGeom prst="straightConnector1">
            <a:avLst/>
          </a:prstGeom>
          <a:ln w="9525">
            <a:solidFill>
              <a:srgbClr val="000000"/>
            </a:solidFill>
            <a:round/>
            <a:tailEnd len="med" type="stealth" w="med"/>
          </a:ln>
        </p:spPr>
      </p:cxnSp>
      <p:sp>
        <p:nvSpPr>
          <p:cNvPr id="196" name="Google Shape;152;p19"/>
          <p:cNvSpPr/>
          <p:nvPr/>
        </p:nvSpPr>
        <p:spPr>
          <a:xfrm>
            <a:off x="774000" y="5795280"/>
            <a:ext cx="2202840" cy="32832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da" sz="600" spc="-1" strike="noStrike">
                <a:solidFill>
                  <a:srgbClr val="292827"/>
                </a:solidFill>
                <a:highlight>
                  <a:srgbClr val="ffffff"/>
                </a:highlight>
                <a:latin typeface="Consolas"/>
                <a:ea typeface="Consolas"/>
              </a:rPr>
              <a:t>Tryk</a:t>
            </a:r>
            <a:endParaRPr b="0" lang="en-US" sz="600" spc="-1" strike="noStrike">
              <a:solidFill>
                <a:srgbClr val="000000"/>
              </a:solidFill>
              <a:latin typeface="Arial"/>
            </a:endParaRPr>
          </a:p>
        </p:txBody>
      </p:sp>
      <p:cxnSp>
        <p:nvCxnSpPr>
          <p:cNvPr id="197" name="Google Shape;153;p19"/>
          <p:cNvCxnSpPr/>
          <p:nvPr/>
        </p:nvCxnSpPr>
        <p:spPr>
          <a:xfrm>
            <a:off x="2976480" y="6014160"/>
            <a:ext cx="1082160" cy="720"/>
          </a:xfrm>
          <a:prstGeom prst="straightConnector1">
            <a:avLst/>
          </a:prstGeom>
          <a:ln w="9525">
            <a:solidFill>
              <a:srgbClr val="000000"/>
            </a:solidFill>
            <a:round/>
            <a:tailEnd len="med" type="stealth" w="med"/>
          </a:ln>
        </p:spPr>
      </p:cxn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8" name="Billede 7" descr=""/>
          <p:cNvPicPr/>
          <p:nvPr/>
        </p:nvPicPr>
        <p:blipFill>
          <a:blip r:embed="rId1"/>
          <a:stretch/>
        </p:blipFill>
        <p:spPr>
          <a:xfrm>
            <a:off x="4284360" y="963360"/>
            <a:ext cx="3392640" cy="5277600"/>
          </a:xfrm>
          <a:prstGeom prst="rect">
            <a:avLst/>
          </a:prstGeom>
          <a:ln w="0">
            <a:noFill/>
          </a:ln>
        </p:spPr>
      </p:pic>
      <p:sp>
        <p:nvSpPr>
          <p:cNvPr id="199"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00" name="Google Shape;152;p19"/>
          <p:cNvSpPr/>
          <p:nvPr/>
        </p:nvSpPr>
        <p:spPr>
          <a:xfrm>
            <a:off x="629640" y="5805360"/>
            <a:ext cx="2202840" cy="32832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da" sz="600" spc="-1" strike="noStrike">
                <a:solidFill>
                  <a:srgbClr val="292827"/>
                </a:solidFill>
                <a:highlight>
                  <a:srgbClr val="ffffff"/>
                </a:highlight>
                <a:latin typeface="Consolas"/>
                <a:ea typeface="Consolas"/>
              </a:rPr>
              <a:t>Tryk</a:t>
            </a:r>
            <a:endParaRPr b="0" lang="en-US" sz="600" spc="-1" strike="noStrike">
              <a:solidFill>
                <a:srgbClr val="000000"/>
              </a:solidFill>
              <a:latin typeface="Arial"/>
            </a:endParaRPr>
          </a:p>
        </p:txBody>
      </p:sp>
      <p:cxnSp>
        <p:nvCxnSpPr>
          <p:cNvPr id="201" name="Google Shape;153;p19"/>
          <p:cNvCxnSpPr/>
          <p:nvPr/>
        </p:nvCxnSpPr>
        <p:spPr>
          <a:xfrm>
            <a:off x="2832120" y="6023880"/>
            <a:ext cx="1401480" cy="110880"/>
          </a:xfrm>
          <a:prstGeom prst="straightConnector1">
            <a:avLst/>
          </a:prstGeom>
          <a:ln w="9525">
            <a:solidFill>
              <a:srgbClr val="000000"/>
            </a:solidFill>
            <a:round/>
            <a:tailEnd len="med" type="stealth" w="med"/>
          </a:ln>
        </p:spPr>
      </p:cxn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2" name="Billede 2" descr=""/>
          <p:cNvPicPr/>
          <p:nvPr/>
        </p:nvPicPr>
        <p:blipFill>
          <a:blip r:embed="rId1"/>
          <a:stretch/>
        </p:blipFill>
        <p:spPr>
          <a:xfrm>
            <a:off x="2117520" y="1663560"/>
            <a:ext cx="5937120" cy="2766600"/>
          </a:xfrm>
          <a:prstGeom prst="rect">
            <a:avLst/>
          </a:prstGeom>
          <a:ln w="0">
            <a:noFill/>
          </a:ln>
        </p:spPr>
      </p:pic>
      <p:sp>
        <p:nvSpPr>
          <p:cNvPr id="20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04" name="Google Shape;164;p20"/>
          <p:cNvSpPr/>
          <p:nvPr/>
        </p:nvSpPr>
        <p:spPr>
          <a:xfrm>
            <a:off x="571680" y="954720"/>
            <a:ext cx="4609440" cy="36504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1200" spc="-1" strike="noStrike">
                <a:solidFill>
                  <a:schemeClr val="dk1"/>
                </a:solidFill>
                <a:latin typeface="Roboto"/>
                <a:ea typeface="Roboto"/>
              </a:rPr>
              <a:t>Efter initial deployment (tomt projekt) er færdig vises denne side</a:t>
            </a:r>
            <a:endParaRPr b="0" lang="en-US" sz="1200" spc="-1" strike="noStrike">
              <a:solidFill>
                <a:srgbClr val="000000"/>
              </a:solidFill>
              <a:latin typeface="Arial"/>
            </a:endParaRPr>
          </a:p>
        </p:txBody>
      </p:sp>
      <p:sp>
        <p:nvSpPr>
          <p:cNvPr id="205" name="Rektangel 3"/>
          <p:cNvSpPr/>
          <p:nvPr/>
        </p:nvSpPr>
        <p:spPr>
          <a:xfrm>
            <a:off x="3562200" y="3429000"/>
            <a:ext cx="888120" cy="3103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6" name="Billede 2" descr=""/>
          <p:cNvPicPr/>
          <p:nvPr/>
        </p:nvPicPr>
        <p:blipFill>
          <a:blip r:embed="rId1"/>
          <a:stretch/>
        </p:blipFill>
        <p:spPr>
          <a:xfrm>
            <a:off x="713880" y="1621440"/>
            <a:ext cx="8074800" cy="3754440"/>
          </a:xfrm>
          <a:prstGeom prst="rect">
            <a:avLst/>
          </a:prstGeom>
          <a:ln w="0">
            <a:noFill/>
          </a:ln>
        </p:spPr>
      </p:pic>
      <p:sp>
        <p:nvSpPr>
          <p:cNvPr id="20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08" name="Google Shape;170;p21"/>
          <p:cNvSpPr/>
          <p:nvPr/>
        </p:nvSpPr>
        <p:spPr>
          <a:xfrm>
            <a:off x="571680" y="954720"/>
            <a:ext cx="4609440" cy="73008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1200" spc="-1" strike="noStrike">
                <a:solidFill>
                  <a:schemeClr val="dk1"/>
                </a:solidFill>
                <a:latin typeface="Roboto"/>
                <a:ea typeface="Roboto"/>
              </a:rPr>
              <a:t>Tomt web projekt er nu deployed og startet.</a:t>
            </a:r>
            <a:endParaRPr b="0" lang="en-US" sz="1200" spc="-1" strike="noStrike">
              <a:solidFill>
                <a:srgbClr val="000000"/>
              </a:solidFill>
              <a:latin typeface="Arial"/>
            </a:endParaRPr>
          </a:p>
          <a:p>
            <a:pPr>
              <a:lnSpc>
                <a:spcPct val="100000"/>
              </a:lnSpc>
              <a:tabLst>
                <a:tab algn="l" pos="0"/>
              </a:tabLst>
            </a:pPr>
            <a:r>
              <a:rPr b="0" lang="da" sz="1200" spc="-1" strike="noStrike">
                <a:solidFill>
                  <a:schemeClr val="dk1"/>
                </a:solidFill>
                <a:latin typeface="Roboto"/>
                <a:ea typeface="Roboto"/>
              </a:rPr>
              <a:t>URL vises under ‘Default domain’</a:t>
            </a:r>
            <a:endParaRPr b="0" lang="en-US" sz="1200" spc="-1" strike="noStrike">
              <a:solidFill>
                <a:srgbClr val="000000"/>
              </a:solidFill>
              <a:latin typeface="Arial"/>
            </a:endParaRPr>
          </a:p>
          <a:p>
            <a:pPr>
              <a:lnSpc>
                <a:spcPct val="100000"/>
              </a:lnSpc>
              <a:tabLst>
                <a:tab algn="l" pos="0"/>
              </a:tabLst>
            </a:pPr>
            <a:r>
              <a:rPr b="0" lang="da" sz="1200" spc="-1" strike="noStrike">
                <a:solidFill>
                  <a:schemeClr val="dk1"/>
                </a:solidFill>
                <a:latin typeface="Roboto"/>
                <a:ea typeface="Roboto"/>
              </a:rPr>
              <a:t>Klik på linket. Det kan godt tage vel over 1 minut før det loader.</a:t>
            </a:r>
            <a:endParaRPr b="0" lang="en-US" sz="1200" spc="-1" strike="noStrike">
              <a:solidFill>
                <a:srgbClr val="000000"/>
              </a:solidFill>
              <a:latin typeface="Arial"/>
            </a:endParaRPr>
          </a:p>
        </p:txBody>
      </p:sp>
      <p:sp>
        <p:nvSpPr>
          <p:cNvPr id="209" name="Rektangel 3"/>
          <p:cNvSpPr/>
          <p:nvPr/>
        </p:nvSpPr>
        <p:spPr>
          <a:xfrm>
            <a:off x="6899040" y="2208960"/>
            <a:ext cx="1930680" cy="14328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Google Shape;177;p22" descr=""/>
          <p:cNvPicPr/>
          <p:nvPr/>
        </p:nvPicPr>
        <p:blipFill>
          <a:blip r:embed="rId1"/>
          <a:stretch/>
        </p:blipFill>
        <p:spPr>
          <a:xfrm>
            <a:off x="1866960" y="1642320"/>
            <a:ext cx="5942880" cy="3266280"/>
          </a:xfrm>
          <a:prstGeom prst="rect">
            <a:avLst/>
          </a:prstGeom>
          <a:ln w="0">
            <a:noFill/>
          </a:ln>
          <a:effectLst>
            <a:outerShdw algn="bl" blurRad="57240" dir="5400000" dist="19080" rotWithShape="0">
              <a:srgbClr val="000000">
                <a:alpha val="50000"/>
              </a:srgbClr>
            </a:outerShdw>
          </a:effectLst>
        </p:spPr>
      </p:pic>
      <p:sp>
        <p:nvSpPr>
          <p:cNvPr id="211"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12" name="Google Shape;179;p22"/>
          <p:cNvSpPr/>
          <p:nvPr/>
        </p:nvSpPr>
        <p:spPr>
          <a:xfrm>
            <a:off x="571680" y="954720"/>
            <a:ext cx="4609440" cy="36504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1200" spc="-1" strike="noStrike">
                <a:solidFill>
                  <a:schemeClr val="dk1"/>
                </a:solidFill>
                <a:latin typeface="Roboto"/>
                <a:ea typeface="Roboto"/>
              </a:rPr>
              <a:t>Landing page for default project</a:t>
            </a:r>
            <a:endParaRPr b="0" lang="en-US" sz="1200" spc="-1" strike="noStrike">
              <a:solidFill>
                <a:srgbClr val="000000"/>
              </a:solidFill>
              <a:latin typeface="Arial"/>
            </a:endParaRPr>
          </a:p>
        </p:txBody>
      </p:sp>
      <p:cxnSp>
        <p:nvCxnSpPr>
          <p:cNvPr id="213" name="Google Shape;180;p22"/>
          <p:cNvCxnSpPr>
            <a:stCxn id="214" idx="2"/>
          </p:cNvCxnSpPr>
          <p:nvPr/>
        </p:nvCxnSpPr>
        <p:spPr>
          <a:xfrm>
            <a:off x="1091880" y="2856600"/>
            <a:ext cx="1132560" cy="863280"/>
          </a:xfrm>
          <a:prstGeom prst="straightConnector1">
            <a:avLst/>
          </a:prstGeom>
          <a:ln w="9525">
            <a:solidFill>
              <a:srgbClr val="000000"/>
            </a:solidFill>
            <a:round/>
            <a:tailEnd len="med" type="stealth" w="med"/>
          </a:ln>
        </p:spPr>
      </p:cxnSp>
      <p:sp>
        <p:nvSpPr>
          <p:cNvPr id="214" name="Google Shape;181;p22"/>
          <p:cNvSpPr/>
          <p:nvPr/>
        </p:nvSpPr>
        <p:spPr>
          <a:xfrm>
            <a:off x="571680" y="2528280"/>
            <a:ext cx="1040760" cy="32832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da" sz="600" spc="-1" strike="noStrike">
                <a:solidFill>
                  <a:srgbClr val="292827"/>
                </a:solidFill>
                <a:highlight>
                  <a:srgbClr val="ffffff"/>
                </a:highlight>
                <a:latin typeface="Consolas"/>
                <a:ea typeface="Consolas"/>
              </a:rPr>
              <a:t>Tryk for at få en oversigt over App Services </a:t>
            </a:r>
            <a:endParaRPr b="0" lang="en-US" sz="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Billede 2" descr=""/>
          <p:cNvPicPr/>
          <p:nvPr/>
        </p:nvPicPr>
        <p:blipFill>
          <a:blip r:embed="rId1"/>
          <a:stretch/>
        </p:blipFill>
        <p:spPr>
          <a:xfrm>
            <a:off x="610920" y="1710720"/>
            <a:ext cx="7205040" cy="1994040"/>
          </a:xfrm>
          <a:prstGeom prst="rect">
            <a:avLst/>
          </a:prstGeom>
          <a:ln w="0">
            <a:noFill/>
          </a:ln>
        </p:spPr>
      </p:pic>
      <p:sp>
        <p:nvSpPr>
          <p:cNvPr id="216"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17" name="Google Shape;179;p22"/>
          <p:cNvSpPr/>
          <p:nvPr/>
        </p:nvSpPr>
        <p:spPr>
          <a:xfrm>
            <a:off x="571680" y="946080"/>
            <a:ext cx="4609440" cy="36504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DK" sz="1200" spc="-1" strike="noStrike">
                <a:solidFill>
                  <a:schemeClr val="dk1"/>
                </a:solidFill>
                <a:latin typeface="Roboto"/>
                <a:ea typeface="Roboto"/>
              </a:rPr>
              <a:t>Oversigt over app services</a:t>
            </a:r>
            <a:r>
              <a:rPr b="0" lang="da" sz="1200" spc="-1" strike="noStrike">
                <a:solidFill>
                  <a:schemeClr val="dk1"/>
                </a:solidFill>
                <a:latin typeface="Roboto"/>
                <a:ea typeface="Roboto"/>
              </a:rPr>
              <a:t> </a:t>
            </a:r>
            <a:endParaRPr b="0" lang="en-US" sz="1200" spc="-1" strike="noStrike">
              <a:solidFill>
                <a:srgbClr val="000000"/>
              </a:solidFill>
              <a:latin typeface="Arial"/>
            </a:endParaRPr>
          </a:p>
        </p:txBody>
      </p:sp>
      <p:sp>
        <p:nvSpPr>
          <p:cNvPr id="218" name="Rektangel 3"/>
          <p:cNvSpPr/>
          <p:nvPr/>
        </p:nvSpPr>
        <p:spPr>
          <a:xfrm>
            <a:off x="610920" y="2894760"/>
            <a:ext cx="901080" cy="12996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9" name="Billede 4" descr=""/>
          <p:cNvPicPr/>
          <p:nvPr/>
        </p:nvPicPr>
        <p:blipFill>
          <a:blip r:embed="rId1"/>
          <a:stretch/>
        </p:blipFill>
        <p:spPr>
          <a:xfrm>
            <a:off x="610920" y="1374480"/>
            <a:ext cx="6627960" cy="2501640"/>
          </a:xfrm>
          <a:prstGeom prst="rect">
            <a:avLst/>
          </a:prstGeom>
          <a:ln w="0">
            <a:noFill/>
          </a:ln>
        </p:spPr>
      </p:pic>
      <p:sp>
        <p:nvSpPr>
          <p:cNvPr id="220"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21" name="Google Shape;179;p22"/>
          <p:cNvSpPr/>
          <p:nvPr/>
        </p:nvSpPr>
        <p:spPr>
          <a:xfrm>
            <a:off x="542160" y="1005120"/>
            <a:ext cx="4609440" cy="36504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DK" sz="1200" spc="-1" strike="noStrike">
                <a:solidFill>
                  <a:schemeClr val="dk1"/>
                </a:solidFill>
                <a:latin typeface="Roboto"/>
                <a:ea typeface="Roboto"/>
              </a:rPr>
              <a:t>Vælg ‘Deployment Center’</a:t>
            </a:r>
            <a:endParaRPr b="0" lang="en-US" sz="1200" spc="-1" strike="noStrike">
              <a:solidFill>
                <a:srgbClr val="000000"/>
              </a:solidFill>
              <a:latin typeface="Arial"/>
            </a:endParaRPr>
          </a:p>
        </p:txBody>
      </p:sp>
      <p:sp>
        <p:nvSpPr>
          <p:cNvPr id="222" name="Rektangel 3"/>
          <p:cNvSpPr/>
          <p:nvPr/>
        </p:nvSpPr>
        <p:spPr>
          <a:xfrm>
            <a:off x="699480" y="3564720"/>
            <a:ext cx="901080" cy="12996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3" name="Billede 4" descr=""/>
          <p:cNvPicPr/>
          <p:nvPr/>
        </p:nvPicPr>
        <p:blipFill>
          <a:blip r:embed="rId1"/>
          <a:stretch/>
        </p:blipFill>
        <p:spPr>
          <a:xfrm>
            <a:off x="3741840" y="1108800"/>
            <a:ext cx="3569040" cy="4554720"/>
          </a:xfrm>
          <a:prstGeom prst="rect">
            <a:avLst/>
          </a:prstGeom>
          <a:ln w="0">
            <a:noFill/>
          </a:ln>
        </p:spPr>
      </p:pic>
      <p:sp>
        <p:nvSpPr>
          <p:cNvPr id="224"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25" name="Google Shape;191;p23"/>
          <p:cNvSpPr/>
          <p:nvPr/>
        </p:nvSpPr>
        <p:spPr>
          <a:xfrm>
            <a:off x="571680" y="1920240"/>
            <a:ext cx="2202840" cy="32832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Vi bruger Github Actions til at bygge</a:t>
            </a:r>
            <a:endParaRPr b="0" lang="en-US" sz="600" spc="-1" strike="noStrike">
              <a:solidFill>
                <a:srgbClr val="000000"/>
              </a:solidFill>
              <a:latin typeface="Arial"/>
            </a:endParaRPr>
          </a:p>
        </p:txBody>
      </p:sp>
      <p:cxnSp>
        <p:nvCxnSpPr>
          <p:cNvPr id="226" name="Google Shape;192;p23"/>
          <p:cNvCxnSpPr>
            <a:stCxn id="225" idx="3"/>
          </p:cNvCxnSpPr>
          <p:nvPr/>
        </p:nvCxnSpPr>
        <p:spPr>
          <a:xfrm flipV="1">
            <a:off x="2774520" y="2035440"/>
            <a:ext cx="1873800" cy="49320"/>
          </a:xfrm>
          <a:prstGeom prst="straightConnector1">
            <a:avLst/>
          </a:prstGeom>
          <a:ln w="9525">
            <a:solidFill>
              <a:srgbClr val="000000"/>
            </a:solidFill>
            <a:round/>
            <a:tailEnd len="med" type="stealth" w="med"/>
          </a:ln>
        </p:spPr>
      </p:cxnSp>
      <p:sp>
        <p:nvSpPr>
          <p:cNvPr id="227" name="Google Shape;193;p23"/>
          <p:cNvSpPr/>
          <p:nvPr/>
        </p:nvSpPr>
        <p:spPr>
          <a:xfrm>
            <a:off x="3697200" y="2979360"/>
            <a:ext cx="43560" cy="913680"/>
          </a:xfrm>
          <a:prstGeom prst="leftBrace">
            <a:avLst>
              <a:gd name="adj1" fmla="val 50000"/>
              <a:gd name="adj2" fmla="val 50000"/>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228" name="Google Shape;194;p23"/>
          <p:cNvSpPr/>
          <p:nvPr/>
        </p:nvSpPr>
        <p:spPr>
          <a:xfrm>
            <a:off x="571680" y="2664000"/>
            <a:ext cx="2202840" cy="76428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da" sz="600" spc="-1" strike="noStrike">
                <a:solidFill>
                  <a:srgbClr val="292827"/>
                </a:solidFill>
                <a:highlight>
                  <a:srgbClr val="ffffff"/>
                </a:highlight>
                <a:latin typeface="Consolas"/>
                <a:ea typeface="Consolas"/>
              </a:rPr>
              <a:t>Github oplysninger:</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Konto (2 factor authorization)</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Organisation</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Repository</a:t>
            </a:r>
            <a:r>
              <a:rPr b="0" lang="da" sz="600" spc="-1" strike="noStrike">
                <a:solidFill>
                  <a:srgbClr val="292827"/>
                </a:solidFill>
                <a:highlight>
                  <a:srgbClr val="ffffff"/>
                </a:highlight>
                <a:latin typeface="Consolas"/>
                <a:ea typeface="Consolas"/>
              </a:rPr>
              <a:t>	</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Branch</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vælg ‘add a workflow…’</a:t>
            </a:r>
            <a:endParaRPr b="0" lang="en-US" sz="600" spc="-1" strike="noStrike">
              <a:solidFill>
                <a:srgbClr val="000000"/>
              </a:solidFill>
              <a:latin typeface="Arial"/>
            </a:endParaRPr>
          </a:p>
          <a:p>
            <a:pPr>
              <a:lnSpc>
                <a:spcPct val="100000"/>
              </a:lnSpc>
              <a:tabLst>
                <a:tab algn="l" pos="0"/>
              </a:tabLst>
            </a:pPr>
            <a:endParaRPr b="0" lang="en-US" sz="600" spc="-1" strike="noStrike">
              <a:solidFill>
                <a:srgbClr val="000000"/>
              </a:solidFill>
              <a:latin typeface="Arial"/>
            </a:endParaRPr>
          </a:p>
        </p:txBody>
      </p:sp>
      <p:cxnSp>
        <p:nvCxnSpPr>
          <p:cNvPr id="229" name="Google Shape;195;p23"/>
          <p:cNvCxnSpPr>
            <a:stCxn id="228" idx="3"/>
            <a:endCxn id="227" idx="1"/>
          </p:cNvCxnSpPr>
          <p:nvPr/>
        </p:nvCxnSpPr>
        <p:spPr>
          <a:xfrm>
            <a:off x="2774520" y="3045960"/>
            <a:ext cx="923040" cy="390600"/>
          </a:xfrm>
          <a:prstGeom prst="straightConnector1">
            <a:avLst/>
          </a:prstGeom>
          <a:ln w="9525">
            <a:solidFill>
              <a:srgbClr val="000000"/>
            </a:solidFill>
            <a:round/>
            <a:tailEnd len="med" type="stealth" w="med"/>
          </a:ln>
        </p:spPr>
      </p:cxnSp>
      <p:sp>
        <p:nvSpPr>
          <p:cNvPr id="230" name="Google Shape;196;p23"/>
          <p:cNvSpPr/>
          <p:nvPr/>
        </p:nvSpPr>
        <p:spPr>
          <a:xfrm>
            <a:off x="3711600" y="4046760"/>
            <a:ext cx="43560" cy="703080"/>
          </a:xfrm>
          <a:prstGeom prst="leftBrace">
            <a:avLst>
              <a:gd name="adj1" fmla="val 50000"/>
              <a:gd name="adj2" fmla="val 50000"/>
            </a:avLst>
          </a:prstGeom>
          <a:no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231" name="Google Shape;197;p23"/>
          <p:cNvSpPr/>
          <p:nvPr/>
        </p:nvSpPr>
        <p:spPr>
          <a:xfrm>
            <a:off x="571680" y="3782880"/>
            <a:ext cx="2202840" cy="703080"/>
          </a:xfrm>
          <a:prstGeom prst="roundRect">
            <a:avLst>
              <a:gd name="adj" fmla="val 16667"/>
            </a:avLst>
          </a:prstGeom>
          <a:noFill/>
          <a:ln w="9525">
            <a:solidFill>
              <a:srgbClr val="000000"/>
            </a:solidFill>
            <a:round/>
          </a:ln>
        </p:spPr>
        <p:style>
          <a:lnRef idx="0"/>
          <a:fillRef idx="0"/>
          <a:effectRef idx="0"/>
          <a:fontRef idx="minor"/>
        </p:style>
        <p:txBody>
          <a:bodyPr lIns="90000" rIns="90000" tIns="91440" bIns="91440" anchor="t">
            <a:noAutofit/>
          </a:bodyPr>
          <a:p>
            <a:pPr>
              <a:lnSpc>
                <a:spcPct val="100000"/>
              </a:lnSpc>
              <a:tabLst>
                <a:tab algn="l" pos="0"/>
              </a:tabLst>
            </a:pPr>
            <a:r>
              <a:rPr b="0" lang="da" sz="600" spc="-1" strike="noStrike">
                <a:solidFill>
                  <a:srgbClr val="292827"/>
                </a:solidFill>
                <a:highlight>
                  <a:srgbClr val="ffffff"/>
                </a:highlight>
                <a:latin typeface="Consolas"/>
                <a:ea typeface="Consolas"/>
              </a:rPr>
              <a:t>Bygge informationer</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Runtime stack</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version</a:t>
            </a:r>
            <a:endParaRPr b="0" lang="en-US" sz="600" spc="-1" strike="noStrike">
              <a:solidFill>
                <a:srgbClr val="000000"/>
              </a:solidFill>
              <a:latin typeface="Arial"/>
            </a:endParaRPr>
          </a:p>
          <a:p>
            <a:pPr marL="457200" indent="-266760">
              <a:lnSpc>
                <a:spcPct val="100000"/>
              </a:lnSpc>
              <a:buClr>
                <a:srgbClr val="292827"/>
              </a:buClr>
              <a:buFont typeface="Consolas"/>
              <a:buChar char="-"/>
              <a:tabLst>
                <a:tab algn="l" pos="0"/>
              </a:tabLst>
            </a:pPr>
            <a:r>
              <a:rPr b="0" lang="da" sz="600" spc="-1" strike="noStrike">
                <a:solidFill>
                  <a:srgbClr val="292827"/>
                </a:solidFill>
                <a:highlight>
                  <a:srgbClr val="ffffff"/>
                </a:highlight>
                <a:latin typeface="Consolas"/>
                <a:ea typeface="Consolas"/>
              </a:rPr>
              <a:t>Java web serve stack</a:t>
            </a:r>
            <a:endParaRPr b="0" lang="en-US" sz="600" spc="-1" strike="noStrike">
              <a:solidFill>
                <a:srgbClr val="000000"/>
              </a:solidFill>
              <a:latin typeface="Arial"/>
            </a:endParaRPr>
          </a:p>
          <a:p>
            <a:pPr>
              <a:lnSpc>
                <a:spcPct val="100000"/>
              </a:lnSpc>
              <a:tabLst>
                <a:tab algn="l" pos="0"/>
              </a:tabLst>
            </a:pPr>
            <a:endParaRPr b="0" lang="en-US" sz="600" spc="-1" strike="noStrike">
              <a:solidFill>
                <a:srgbClr val="000000"/>
              </a:solidFill>
              <a:latin typeface="Arial"/>
            </a:endParaRPr>
          </a:p>
        </p:txBody>
      </p:sp>
      <p:cxnSp>
        <p:nvCxnSpPr>
          <p:cNvPr id="232" name="Google Shape;198;p23"/>
          <p:cNvCxnSpPr>
            <a:stCxn id="231" idx="3"/>
            <a:endCxn id="230" idx="1"/>
          </p:cNvCxnSpPr>
          <p:nvPr/>
        </p:nvCxnSpPr>
        <p:spPr>
          <a:xfrm>
            <a:off x="2774520" y="4134240"/>
            <a:ext cx="937440" cy="264240"/>
          </a:xfrm>
          <a:prstGeom prst="straightConnector1">
            <a:avLst/>
          </a:prstGeom>
          <a:ln w="9525">
            <a:solidFill>
              <a:srgbClr val="000000"/>
            </a:solidFill>
            <a:round/>
            <a:tailEnd len="med" type="stealth" w="med"/>
          </a:ln>
        </p:spPr>
      </p:cxnSp>
      <p:sp>
        <p:nvSpPr>
          <p:cNvPr id="233" name="Google Shape;199;p23"/>
          <p:cNvSpPr/>
          <p:nvPr/>
        </p:nvSpPr>
        <p:spPr>
          <a:xfrm>
            <a:off x="685800" y="5913000"/>
            <a:ext cx="7886160" cy="305280"/>
          </a:xfrm>
          <a:prstGeom prst="rect">
            <a:avLst/>
          </a:prstGeom>
          <a:noFill/>
          <a:ln w="0">
            <a:noFill/>
          </a:ln>
        </p:spPr>
        <p:style>
          <a:lnRef idx="0"/>
          <a:fillRef idx="0"/>
          <a:effectRef idx="0"/>
          <a:fontRef idx="minor"/>
        </p:style>
        <p:txBody>
          <a:bodyPr lIns="90000" rIns="90000" tIns="76680" bIns="76680" anchor="t">
            <a:spAutoFit/>
          </a:bodyPr>
          <a:p>
            <a:pPr>
              <a:lnSpc>
                <a:spcPct val="100000"/>
              </a:lnSpc>
              <a:tabLst>
                <a:tab algn="l" pos="0"/>
              </a:tabLst>
            </a:pPr>
            <a:r>
              <a:rPr b="0" lang="da" sz="1000" spc="-1" strike="noStrike">
                <a:solidFill>
                  <a:schemeClr val="dk1"/>
                </a:solidFill>
                <a:latin typeface="Verdana"/>
                <a:ea typeface="Verdana"/>
              </a:rPr>
              <a:t>Når der klikkes på ‘save’ genererer Azure en workflow (yaml) fil der pushes til repoet i folderen .github/workflows  </a:t>
            </a:r>
            <a:endParaRPr b="0" lang="en-US" sz="1000" spc="-1" strike="noStrike">
              <a:solidFill>
                <a:srgbClr val="000000"/>
              </a:solidFill>
              <a:latin typeface="Arial"/>
            </a:endParaRPr>
          </a:p>
        </p:txBody>
      </p:sp>
      <p:sp>
        <p:nvSpPr>
          <p:cNvPr id="234" name="Rektangel 6"/>
          <p:cNvSpPr/>
          <p:nvPr/>
        </p:nvSpPr>
        <p:spPr>
          <a:xfrm>
            <a:off x="3744720" y="1053360"/>
            <a:ext cx="398880" cy="21636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5" name="Billede 2" descr=""/>
          <p:cNvPicPr/>
          <p:nvPr/>
        </p:nvPicPr>
        <p:blipFill>
          <a:blip r:embed="rId1"/>
          <a:stretch/>
        </p:blipFill>
        <p:spPr>
          <a:xfrm>
            <a:off x="3442320" y="879840"/>
            <a:ext cx="3447360" cy="5204160"/>
          </a:xfrm>
          <a:prstGeom prst="rect">
            <a:avLst/>
          </a:prstGeom>
          <a:ln w="0">
            <a:noFill/>
          </a:ln>
        </p:spPr>
      </p:pic>
      <p:sp>
        <p:nvSpPr>
          <p:cNvPr id="236"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pic>
        <p:nvPicPr>
          <p:cNvPr id="238" name="Billede 3" descr=""/>
          <p:cNvPicPr/>
          <p:nvPr/>
        </p:nvPicPr>
        <p:blipFill>
          <a:blip r:embed="rId1"/>
          <a:stretch/>
        </p:blipFill>
        <p:spPr>
          <a:xfrm>
            <a:off x="571680" y="1335600"/>
            <a:ext cx="7626240" cy="16639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pic>
        <p:nvPicPr>
          <p:cNvPr id="240" name="Billede 11" descr=""/>
          <p:cNvPicPr/>
          <p:nvPr/>
        </p:nvPicPr>
        <p:blipFill>
          <a:blip r:embed="rId1"/>
          <a:stretch/>
        </p:blipFill>
        <p:spPr>
          <a:xfrm>
            <a:off x="623520" y="967680"/>
            <a:ext cx="3648600" cy="1575360"/>
          </a:xfrm>
          <a:prstGeom prst="rect">
            <a:avLst/>
          </a:prstGeom>
          <a:ln w="0">
            <a:noFill/>
          </a:ln>
        </p:spPr>
      </p:pic>
      <p:pic>
        <p:nvPicPr>
          <p:cNvPr id="241" name="Billede 12" descr=""/>
          <p:cNvPicPr/>
          <p:nvPr/>
        </p:nvPicPr>
        <p:blipFill>
          <a:blip r:embed="rId2"/>
          <a:stretch/>
        </p:blipFill>
        <p:spPr>
          <a:xfrm>
            <a:off x="571680" y="3201480"/>
            <a:ext cx="5640840" cy="2338560"/>
          </a:xfrm>
          <a:prstGeom prst="rect">
            <a:avLst/>
          </a:prstGeom>
          <a:ln w="0">
            <a:noFill/>
          </a:ln>
        </p:spPr>
      </p:pic>
      <p:sp>
        <p:nvSpPr>
          <p:cNvPr id="242" name="Rektangel 2"/>
          <p:cNvSpPr/>
          <p:nvPr/>
        </p:nvSpPr>
        <p:spPr>
          <a:xfrm>
            <a:off x="2058840" y="5266800"/>
            <a:ext cx="4052880" cy="2311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3" name="Billede 3" descr=""/>
          <p:cNvPicPr/>
          <p:nvPr/>
        </p:nvPicPr>
        <p:blipFill>
          <a:blip r:embed="rId1"/>
          <a:stretch/>
        </p:blipFill>
        <p:spPr>
          <a:xfrm>
            <a:off x="2412000" y="1122840"/>
            <a:ext cx="6159960" cy="3288600"/>
          </a:xfrm>
          <a:prstGeom prst="rect">
            <a:avLst/>
          </a:prstGeom>
          <a:ln w="0">
            <a:noFill/>
          </a:ln>
        </p:spPr>
      </p:pic>
      <p:sp>
        <p:nvSpPr>
          <p:cNvPr id="244"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45" name="Rektangel 6"/>
          <p:cNvSpPr/>
          <p:nvPr/>
        </p:nvSpPr>
        <p:spPr>
          <a:xfrm>
            <a:off x="2599920" y="2842200"/>
            <a:ext cx="1288800" cy="2311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
        <p:nvSpPr>
          <p:cNvPr id="246" name="Tekstfelt 8"/>
          <p:cNvSpPr/>
          <p:nvPr/>
        </p:nvSpPr>
        <p:spPr>
          <a:xfrm>
            <a:off x="562320" y="2797920"/>
            <a:ext cx="191196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Azure har tilføjet denne .yml fil </a:t>
            </a:r>
            <a:endParaRPr b="0" lang="en-US" sz="1000" spc="-1" strike="noStrike">
              <a:solidFill>
                <a:srgbClr val="000000"/>
              </a:solidFill>
              <a:latin typeface="Arial"/>
            </a:endParaRPr>
          </a:p>
        </p:txBody>
      </p:sp>
      <p:sp>
        <p:nvSpPr>
          <p:cNvPr id="247" name="Tekstfelt 9"/>
          <p:cNvSpPr/>
          <p:nvPr/>
        </p:nvSpPr>
        <p:spPr>
          <a:xfrm>
            <a:off x="559440" y="4659120"/>
            <a:ext cx="301608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Bemærk: Husk at køre </a:t>
            </a:r>
            <a:r>
              <a:rPr b="0" lang="da-DK" sz="1000" spc="-1" strike="noStrike">
                <a:solidFill>
                  <a:srgbClr val="000000"/>
                </a:solidFill>
                <a:latin typeface="Consolas"/>
                <a:ea typeface="Arial"/>
              </a:rPr>
              <a:t>git pull </a:t>
            </a:r>
            <a:r>
              <a:rPr b="0" lang="da-DK" sz="1000" spc="-1" strike="noStrike">
                <a:solidFill>
                  <a:srgbClr val="000000"/>
                </a:solidFill>
                <a:latin typeface="Arial"/>
                <a:ea typeface="Arial"/>
              </a:rPr>
              <a:t>i dit lokale repo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48" name="Billede 2" descr=""/>
          <p:cNvPicPr/>
          <p:nvPr/>
        </p:nvPicPr>
        <p:blipFill>
          <a:blip r:embed="rId1"/>
          <a:stretch/>
        </p:blipFill>
        <p:spPr>
          <a:xfrm>
            <a:off x="3489840" y="1055880"/>
            <a:ext cx="2893320" cy="3714840"/>
          </a:xfrm>
          <a:prstGeom prst="rect">
            <a:avLst/>
          </a:prstGeom>
          <a:ln w="0">
            <a:noFill/>
          </a:ln>
        </p:spPr>
      </p:pic>
      <p:sp>
        <p:nvSpPr>
          <p:cNvPr id="249"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50" name="Rektangel 6"/>
          <p:cNvSpPr/>
          <p:nvPr/>
        </p:nvSpPr>
        <p:spPr>
          <a:xfrm>
            <a:off x="4074840" y="3640680"/>
            <a:ext cx="1187640" cy="2941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
        <p:nvSpPr>
          <p:cNvPr id="251" name="Tekstfelt 8"/>
          <p:cNvSpPr/>
          <p:nvPr/>
        </p:nvSpPr>
        <p:spPr>
          <a:xfrm>
            <a:off x="565920" y="2797920"/>
            <a:ext cx="2582640" cy="17647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Der er fejl i den autogenererede .yml fil!</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da-DK" sz="1000" spc="-1" strike="noStrike">
                <a:solidFill>
                  <a:srgbClr val="000000"/>
                </a:solidFill>
                <a:latin typeface="Arial"/>
                <a:ea typeface="Arial"/>
              </a:rPr>
              <a:t>Java-version: java21</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da-DK" sz="1000" spc="-1" strike="noStrike">
                <a:solidFill>
                  <a:srgbClr val="000000"/>
                </a:solidFill>
                <a:latin typeface="Arial"/>
                <a:ea typeface="Arial"/>
              </a:rPr>
              <a:t>Skal være:</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da-DK" sz="1000" spc="-1" strike="noStrike">
                <a:solidFill>
                  <a:srgbClr val="000000"/>
                </a:solidFill>
                <a:latin typeface="Arial"/>
                <a:ea typeface="Arial"/>
              </a:rPr>
              <a:t>Java-version: 21</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r>
              <a:rPr b="0" lang="da-DK" sz="1000" spc="-1" strike="noStrike">
                <a:solidFill>
                  <a:srgbClr val="000000"/>
                </a:solidFill>
                <a:latin typeface="Arial"/>
                <a:ea typeface="Arial"/>
              </a:rPr>
              <a:t>Vi retter filen manuelt på github og comitter</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2" name="Billede 3" descr=""/>
          <p:cNvPicPr/>
          <p:nvPr/>
        </p:nvPicPr>
        <p:blipFill>
          <a:blip r:embed="rId1"/>
          <a:stretch/>
        </p:blipFill>
        <p:spPr>
          <a:xfrm>
            <a:off x="758520" y="992880"/>
            <a:ext cx="6745680" cy="2855880"/>
          </a:xfrm>
          <a:prstGeom prst="rect">
            <a:avLst/>
          </a:prstGeom>
          <a:ln w="0">
            <a:noFill/>
          </a:ln>
        </p:spPr>
      </p:pic>
      <p:sp>
        <p:nvSpPr>
          <p:cNvPr id="25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en Azure Web App</a:t>
            </a:r>
            <a:endParaRPr b="0" lang="en-US" sz="2400" spc="-1" strike="noStrike">
              <a:solidFill>
                <a:srgbClr val="000000"/>
              </a:solidFill>
              <a:latin typeface="Arial"/>
            </a:endParaRPr>
          </a:p>
        </p:txBody>
      </p:sp>
      <p:sp>
        <p:nvSpPr>
          <p:cNvPr id="254" name="Tekstfelt 8"/>
          <p:cNvSpPr/>
          <p:nvPr/>
        </p:nvSpPr>
        <p:spPr>
          <a:xfrm>
            <a:off x="903960" y="4411800"/>
            <a:ext cx="1104840" cy="637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600" spc="-1" strike="noStrike">
                <a:solidFill>
                  <a:srgbClr val="000000"/>
                </a:solidFill>
                <a:latin typeface="Arial"/>
                <a:ea typeface="Arial"/>
              </a:rPr>
              <a:t>Det virker!</a:t>
            </a:r>
            <a:endParaRPr b="0" lang="en-US" sz="16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Google Shape;208;p24"/>
          <p:cNvSpPr/>
          <p:nvPr/>
        </p:nvSpPr>
        <p:spPr>
          <a:xfrm>
            <a:off x="3954600" y="2350440"/>
            <a:ext cx="3641760" cy="2550960"/>
          </a:xfrm>
          <a:prstGeom prst="rect">
            <a:avLst/>
          </a:prstGeom>
          <a:solidFill>
            <a:schemeClr val="lt2"/>
          </a:solid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256" name="Google Shape;209;p24"/>
          <p:cNvSpPr/>
          <p:nvPr/>
        </p:nvSpPr>
        <p:spPr>
          <a:xfrm>
            <a:off x="3954600" y="1580040"/>
            <a:ext cx="3641760" cy="703080"/>
          </a:xfrm>
          <a:prstGeom prst="rect">
            <a:avLst/>
          </a:prstGeom>
          <a:solidFill>
            <a:schemeClr val="lt2"/>
          </a:solid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257" name="Google Shape;210;p24"/>
          <p:cNvSpPr/>
          <p:nvPr/>
        </p:nvSpPr>
        <p:spPr>
          <a:xfrm>
            <a:off x="3954600" y="922320"/>
            <a:ext cx="4975200" cy="431964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800" spc="-1" strike="noStrike">
                <a:solidFill>
                  <a:srgbClr val="000000"/>
                </a:solidFill>
                <a:latin typeface="Consolas"/>
                <a:ea typeface="Consolas"/>
              </a:rPr>
              <a:t># Docs for the Azure Web Apps Deploy action: https://github.com/Azure/webapps-deploy</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More GitHub Actions for Azure: https://github.com/Azure/actions</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name: Build and deploy JAR app to Azure Web App - springappdemo</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on:</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push:</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branches:</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main</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workflow_dispatch:</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jobs:</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build:</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runs-on: ubuntu-latest</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steps:</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uses: actions/checkout@v4</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name: Set up Java version</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uses: actions/setup-java@v1</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with:</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java-version: '21'</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name: Build with Maven</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run: mvn clean install</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name: Upload artifact for deployment job</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uses: actions/upload-artifact@v3</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with:</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name: java-app</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path: '${{ github.workspace }}/target/*.jar'</a:t>
            </a:r>
            <a:endParaRPr b="0" lang="en-US" sz="800" spc="-1" strike="noStrike">
              <a:solidFill>
                <a:srgbClr val="000000"/>
              </a:solidFill>
              <a:latin typeface="Arial"/>
            </a:endParaRPr>
          </a:p>
          <a:p>
            <a:pPr>
              <a:lnSpc>
                <a:spcPct val="100000"/>
              </a:lnSpc>
              <a:tabLst>
                <a:tab algn="l" pos="0"/>
              </a:tabLst>
            </a:pP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endParaRPr b="0" lang="en-US" sz="800" spc="-1" strike="noStrike">
              <a:solidFill>
                <a:srgbClr val="000000"/>
              </a:solidFill>
              <a:latin typeface="Arial"/>
            </a:endParaRPr>
          </a:p>
        </p:txBody>
      </p:sp>
      <p:sp>
        <p:nvSpPr>
          <p:cNvPr id="258"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Workflow (yml) fil</a:t>
            </a:r>
            <a:endParaRPr b="0" lang="en-US" sz="2400" spc="-1" strike="noStrike">
              <a:solidFill>
                <a:srgbClr val="000000"/>
              </a:solidFill>
              <a:latin typeface="Arial"/>
            </a:endParaRPr>
          </a:p>
        </p:txBody>
      </p:sp>
      <p:sp>
        <p:nvSpPr>
          <p:cNvPr id="259" name="Google Shape;212;p24"/>
          <p:cNvSpPr/>
          <p:nvPr/>
        </p:nvSpPr>
        <p:spPr>
          <a:xfrm>
            <a:off x="510480" y="1374120"/>
            <a:ext cx="3443760" cy="1053000"/>
          </a:xfrm>
          <a:prstGeom prst="rect">
            <a:avLst/>
          </a:prstGeom>
          <a:noFill/>
          <a:ln w="0">
            <a:noFill/>
          </a:ln>
        </p:spPr>
        <p:style>
          <a:lnRef idx="0"/>
          <a:fillRef idx="0"/>
          <a:effectRef idx="0"/>
          <a:fontRef idx="minor"/>
        </p:style>
        <p:txBody>
          <a:bodyPr lIns="90000" rIns="90000" tIns="91440" bIns="91440" anchor="t">
            <a:spAutoFit/>
          </a:bodyPr>
          <a:p>
            <a:pPr>
              <a:lnSpc>
                <a:spcPct val="150000"/>
              </a:lnSpc>
              <a:spcBef>
                <a:spcPts val="1199"/>
              </a:spcBef>
              <a:tabLst>
                <a:tab algn="l" pos="0"/>
              </a:tabLst>
            </a:pPr>
            <a:r>
              <a:rPr b="1" lang="da" sz="800" spc="-1" strike="noStrike">
                <a:solidFill>
                  <a:srgbClr val="0d0d0d"/>
                </a:solidFill>
                <a:highlight>
                  <a:srgbClr val="ffffff"/>
                </a:highlight>
                <a:latin typeface="Verdana"/>
                <a:ea typeface="Verdana"/>
              </a:rPr>
              <a:t>Triggere</a:t>
            </a:r>
            <a:endParaRPr b="0" lang="en-US" sz="800" spc="-1" strike="noStrike">
              <a:solidFill>
                <a:srgbClr val="000000"/>
              </a:solidFill>
              <a:latin typeface="Arial"/>
            </a:endParaRPr>
          </a:p>
          <a:p>
            <a:pPr>
              <a:lnSpc>
                <a:spcPct val="100000"/>
              </a:lnSpc>
              <a:spcBef>
                <a:spcPts val="201"/>
              </a:spcBef>
              <a:tabLst>
                <a:tab algn="l" pos="0"/>
              </a:tabLst>
            </a:pPr>
            <a:r>
              <a:rPr b="0" lang="da" sz="800" spc="-1" strike="noStrike">
                <a:solidFill>
                  <a:srgbClr val="0d0d0d"/>
                </a:solidFill>
                <a:highlight>
                  <a:srgbClr val="ffffff"/>
                </a:highlight>
                <a:latin typeface="Verdana"/>
                <a:ea typeface="Verdana"/>
              </a:rPr>
              <a:t>on: Definerer, hvornår workflowet skal udløses. I dette tilfælde på to scenarier:</a:t>
            </a:r>
            <a:endParaRPr b="0" lang="en-US" sz="800" spc="-1" strike="noStrike">
              <a:solidFill>
                <a:srgbClr val="000000"/>
              </a:solidFill>
              <a:latin typeface="Arial"/>
            </a:endParaRPr>
          </a:p>
          <a:p>
            <a:pPr marL="4572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push: Når kode pushes til main-branchen.</a:t>
            </a:r>
            <a:endParaRPr b="0" lang="en-US" sz="800" spc="-1" strike="noStrike">
              <a:solidFill>
                <a:srgbClr val="000000"/>
              </a:solidFill>
              <a:latin typeface="Arial"/>
            </a:endParaRPr>
          </a:p>
          <a:p>
            <a:pPr marL="4572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workflow_dispatch: Tillader manuel udløsning af workflowet fra GitHub Actions UI.</a:t>
            </a:r>
            <a:endParaRPr b="0" lang="en-US" sz="800" spc="-1" strike="noStrike">
              <a:solidFill>
                <a:srgbClr val="000000"/>
              </a:solidFill>
              <a:latin typeface="Arial"/>
            </a:endParaRPr>
          </a:p>
        </p:txBody>
      </p:sp>
      <p:sp>
        <p:nvSpPr>
          <p:cNvPr id="260" name="Google Shape;213;p24"/>
          <p:cNvSpPr/>
          <p:nvPr/>
        </p:nvSpPr>
        <p:spPr>
          <a:xfrm>
            <a:off x="510480" y="2421720"/>
            <a:ext cx="2999160" cy="2625480"/>
          </a:xfrm>
          <a:prstGeom prst="rect">
            <a:avLst/>
          </a:prstGeom>
          <a:noFill/>
          <a:ln w="0">
            <a:noFill/>
          </a:ln>
        </p:spPr>
        <p:style>
          <a:lnRef idx="0"/>
          <a:fillRef idx="0"/>
          <a:effectRef idx="0"/>
          <a:fontRef idx="minor"/>
        </p:style>
        <p:txBody>
          <a:bodyPr lIns="90000" rIns="90000" tIns="91440" bIns="91440" anchor="t">
            <a:spAutoFit/>
          </a:bodyPr>
          <a:p>
            <a:pPr>
              <a:lnSpc>
                <a:spcPct val="150000"/>
              </a:lnSpc>
              <a:spcBef>
                <a:spcPts val="1199"/>
              </a:spcBef>
              <a:tabLst>
                <a:tab algn="l" pos="0"/>
              </a:tabLst>
            </a:pPr>
            <a:r>
              <a:rPr b="1" lang="da" sz="800" spc="-1" strike="noStrike">
                <a:solidFill>
                  <a:srgbClr val="0d0d0d"/>
                </a:solidFill>
                <a:highlight>
                  <a:srgbClr val="ffffff"/>
                </a:highlight>
                <a:latin typeface="Verdana"/>
                <a:ea typeface="Verdana"/>
              </a:rPr>
              <a:t>Build Job</a:t>
            </a:r>
            <a:endParaRPr b="0" lang="en-US" sz="800" spc="-1" strike="noStrike">
              <a:solidFill>
                <a:srgbClr val="000000"/>
              </a:solidFill>
              <a:latin typeface="Arial"/>
            </a:endParaRPr>
          </a:p>
          <a:p>
            <a:pPr marL="457200" indent="-279360">
              <a:lnSpc>
                <a:spcPct val="115000"/>
              </a:lnSpc>
              <a:spcBef>
                <a:spcPts val="201"/>
              </a:spcBef>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runs-on: ubuntu-latest: Definerer, at jobbet skal køre på en runner med den seneste version af Ubuntu.</a:t>
            </a:r>
            <a:endParaRPr b="0" lang="en-US" sz="800" spc="-1" strike="noStrike">
              <a:solidFill>
                <a:srgbClr val="000000"/>
              </a:solidFill>
              <a:latin typeface="Arial"/>
            </a:endParaRPr>
          </a:p>
          <a:p>
            <a:pPr marL="4572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steps: En sekvens af trin, der udføres som en del af build-jobbet.</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Checkout-kode: Udtjekker koden ved brug af actions/checkout@v4.</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Opsæt Java: Opsætter Java-version 21 ved hjælp af actions/setup-java@v1.</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Verdana"/>
                <a:ea typeface="Verdana"/>
              </a:rPr>
              <a:t>Build med Maven: Kører mvn clean install for at bygge Java-applikationen.</a:t>
            </a:r>
            <a:endParaRPr b="0" lang="en-US" sz="800" spc="-1" strike="noStrike">
              <a:solidFill>
                <a:srgbClr val="000000"/>
              </a:solidFill>
              <a:latin typeface="Arial"/>
            </a:endParaRPr>
          </a:p>
          <a:p>
            <a:pPr lvl="1" marL="914400" indent="-279360">
              <a:lnSpc>
                <a:spcPct val="115000"/>
              </a:lnSpc>
              <a:buClr>
                <a:srgbClr val="0d0d0d"/>
              </a:buClr>
              <a:buFont typeface="Verdana"/>
              <a:buChar char="●"/>
              <a:tabLst>
                <a:tab algn="l" pos="0"/>
              </a:tabLst>
            </a:pPr>
            <a:r>
              <a:rPr b="0" lang="da" sz="800" spc="-1" strike="noStrike">
                <a:solidFill>
                  <a:srgbClr val="0d0d0d"/>
                </a:solidFill>
                <a:highlight>
                  <a:srgbClr val="ffffff"/>
                </a:highlight>
                <a:latin typeface="Verdana"/>
                <a:ea typeface="Verdana"/>
              </a:rPr>
              <a:t>Upload artifact: Uploader det byggede JAR til GitHub Actions, så det kan bruges i deploy-jobbet.</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Google Shape;218;p25"/>
          <p:cNvSpPr/>
          <p:nvPr/>
        </p:nvSpPr>
        <p:spPr>
          <a:xfrm>
            <a:off x="3787200" y="972720"/>
            <a:ext cx="4632480" cy="2769840"/>
          </a:xfrm>
          <a:prstGeom prst="rect">
            <a:avLst/>
          </a:prstGeom>
          <a:solidFill>
            <a:schemeClr val="lt2"/>
          </a:solidFill>
          <a:ln w="9525">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262" name="Google Shape;219;p25"/>
          <p:cNvSpPr/>
          <p:nvPr/>
        </p:nvSpPr>
        <p:spPr>
          <a:xfrm>
            <a:off x="3718440" y="972720"/>
            <a:ext cx="5805720" cy="285948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deploy:</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runs-on: ubuntu-latest</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needs: build</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environment:</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name: 'Production'</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url: ${{ steps.deploy-to-webapp.outputs.webapp-url }}</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steps:</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name: Download artifact from build job</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uses: actions/download-artifact@v3</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with:</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name: java-app</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 name: Deploy to Azure Web App</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id: deploy-to-webapp</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uses: azure/webapps-deploy@v2</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with:</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app-name: 'springappdemo'</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slot-name: 'Production'</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package: '*.jar'</a:t>
            </a:r>
            <a:endParaRPr b="0" lang="en-US" sz="800" spc="-1" strike="noStrike">
              <a:solidFill>
                <a:srgbClr val="000000"/>
              </a:solidFill>
              <a:latin typeface="Arial"/>
            </a:endParaRPr>
          </a:p>
          <a:p>
            <a:pPr>
              <a:lnSpc>
                <a:spcPct val="100000"/>
              </a:lnSpc>
              <a:tabLst>
                <a:tab algn="l" pos="0"/>
              </a:tabLst>
            </a:pPr>
            <a:r>
              <a:rPr b="0" lang="da" sz="800" spc="-1" strike="noStrike">
                <a:solidFill>
                  <a:srgbClr val="000000"/>
                </a:solidFill>
                <a:latin typeface="Consolas"/>
                <a:ea typeface="Consolas"/>
              </a:rPr>
              <a:t>          </a:t>
            </a:r>
            <a:r>
              <a:rPr b="0" lang="da" sz="800" spc="-1" strike="noStrike">
                <a:solidFill>
                  <a:srgbClr val="000000"/>
                </a:solidFill>
                <a:latin typeface="Consolas"/>
                <a:ea typeface="Consolas"/>
              </a:rPr>
              <a:t>publish-profile: ${{ secrets.AZUREAPPSERVICE_PUBLISHPROFILE_C1F522A704EC438DB8E2E7C26C197A4E }}</a:t>
            </a:r>
            <a:endParaRPr b="0" lang="en-US" sz="800" spc="-1" strike="noStrike">
              <a:solidFill>
                <a:srgbClr val="000000"/>
              </a:solidFill>
              <a:latin typeface="Arial"/>
            </a:endParaRPr>
          </a:p>
        </p:txBody>
      </p:sp>
      <p:sp>
        <p:nvSpPr>
          <p:cNvPr id="26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Workflow (yml) fil</a:t>
            </a:r>
            <a:endParaRPr b="0" lang="en-US" sz="2400" spc="-1" strike="noStrike">
              <a:solidFill>
                <a:srgbClr val="000000"/>
              </a:solidFill>
              <a:latin typeface="Arial"/>
            </a:endParaRPr>
          </a:p>
        </p:txBody>
      </p:sp>
      <p:sp>
        <p:nvSpPr>
          <p:cNvPr id="264" name="Google Shape;221;p25"/>
          <p:cNvSpPr/>
          <p:nvPr/>
        </p:nvSpPr>
        <p:spPr>
          <a:xfrm>
            <a:off x="571680" y="934560"/>
            <a:ext cx="2999160" cy="4441320"/>
          </a:xfrm>
          <a:prstGeom prst="rect">
            <a:avLst/>
          </a:prstGeom>
          <a:noFill/>
          <a:ln w="0">
            <a:noFill/>
          </a:ln>
        </p:spPr>
        <p:style>
          <a:lnRef idx="0"/>
          <a:fillRef idx="0"/>
          <a:effectRef idx="0"/>
          <a:fontRef idx="minor"/>
        </p:style>
        <p:txBody>
          <a:bodyPr lIns="90000" rIns="90000" tIns="91440" bIns="91440" anchor="t">
            <a:spAutoFit/>
          </a:bodyPr>
          <a:p>
            <a:pPr>
              <a:lnSpc>
                <a:spcPct val="150000"/>
              </a:lnSpc>
              <a:spcBef>
                <a:spcPts val="1199"/>
              </a:spcBef>
              <a:tabLst>
                <a:tab algn="l" pos="0"/>
              </a:tabLst>
            </a:pPr>
            <a:r>
              <a:rPr b="1" lang="da" sz="800" spc="-1" strike="noStrike">
                <a:solidFill>
                  <a:srgbClr val="0d0d0d"/>
                </a:solidFill>
                <a:highlight>
                  <a:srgbClr val="ffffff"/>
                </a:highlight>
                <a:latin typeface="Roboto"/>
                <a:ea typeface="Roboto"/>
              </a:rPr>
              <a:t>Deploy Job</a:t>
            </a:r>
            <a:endParaRPr b="0" lang="en-US" sz="800" spc="-1" strike="noStrike">
              <a:solidFill>
                <a:srgbClr val="000000"/>
              </a:solidFill>
              <a:latin typeface="Arial"/>
            </a:endParaRPr>
          </a:p>
          <a:p>
            <a:pPr marL="457200" indent="-279360">
              <a:lnSpc>
                <a:spcPct val="115000"/>
              </a:lnSpc>
              <a:spcBef>
                <a:spcPts val="201"/>
              </a:spcBef>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needs: build</a:t>
            </a:r>
            <a:r>
              <a:rPr b="0" lang="da" sz="800" spc="-1" strike="noStrike">
                <a:solidFill>
                  <a:srgbClr val="0d0d0d"/>
                </a:solidFill>
                <a:highlight>
                  <a:srgbClr val="ffffff"/>
                </a:highlight>
                <a:latin typeface="Roboto"/>
                <a:ea typeface="Roboto"/>
              </a:rPr>
              <a:t>: Angiver, at dette job afhænger af, at </a:t>
            </a:r>
            <a:r>
              <a:rPr b="0" lang="da" sz="800" spc="-1" strike="noStrike">
                <a:solidFill>
                  <a:srgbClr val="0d0d0d"/>
                </a:solidFill>
                <a:highlight>
                  <a:srgbClr val="ffffff"/>
                </a:highlight>
                <a:latin typeface="Courier New"/>
                <a:ea typeface="Courier New"/>
              </a:rPr>
              <a:t>build</a:t>
            </a:r>
            <a:r>
              <a:rPr b="0" lang="da" sz="800" spc="-1" strike="noStrike">
                <a:solidFill>
                  <a:srgbClr val="0d0d0d"/>
                </a:solidFill>
                <a:highlight>
                  <a:srgbClr val="ffffff"/>
                </a:highlight>
                <a:latin typeface="Roboto"/>
                <a:ea typeface="Roboto"/>
              </a:rPr>
              <a:t>-jobbet er fuldført.</a:t>
            </a:r>
            <a:endParaRPr b="0" lang="en-US" sz="800" spc="-1" strike="noStrike">
              <a:solidFill>
                <a:srgbClr val="000000"/>
              </a:solidFill>
              <a:latin typeface="Arial"/>
            </a:endParaRPr>
          </a:p>
          <a:p>
            <a:pPr marL="4572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environment</a:t>
            </a:r>
            <a:r>
              <a:rPr b="0" lang="da" sz="800" spc="-1" strike="noStrike">
                <a:solidFill>
                  <a:srgbClr val="0d0d0d"/>
                </a:solidFill>
                <a:highlight>
                  <a:srgbClr val="ffffff"/>
                </a:highlight>
                <a:latin typeface="Roboto"/>
                <a:ea typeface="Roboto"/>
              </a:rPr>
              <a:t>: Definerer miljønavnet (</a:t>
            </a:r>
            <a:r>
              <a:rPr b="0" lang="da" sz="800" spc="-1" strike="noStrike">
                <a:solidFill>
                  <a:srgbClr val="0d0d0d"/>
                </a:solidFill>
                <a:highlight>
                  <a:srgbClr val="ffffff"/>
                </a:highlight>
                <a:latin typeface="Courier New"/>
                <a:ea typeface="Courier New"/>
              </a:rPr>
              <a:t>Production</a:t>
            </a:r>
            <a:r>
              <a:rPr b="0" lang="da" sz="800" spc="-1" strike="noStrike">
                <a:solidFill>
                  <a:srgbClr val="0d0d0d"/>
                </a:solidFill>
                <a:highlight>
                  <a:srgbClr val="ffffff"/>
                </a:highlight>
                <a:latin typeface="Roboto"/>
                <a:ea typeface="Roboto"/>
              </a:rPr>
              <a:t>) og dynamisk henter URL'en for den deployerede webapp som output fra deploy-trinnet.</a:t>
            </a:r>
            <a:endParaRPr b="0" lang="en-US" sz="800" spc="-1" strike="noStrike">
              <a:solidFill>
                <a:srgbClr val="000000"/>
              </a:solidFill>
              <a:latin typeface="Arial"/>
            </a:endParaRPr>
          </a:p>
          <a:p>
            <a:pPr marL="4572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steps</a:t>
            </a:r>
            <a:r>
              <a:rPr b="0" lang="da" sz="800" spc="-1" strike="noStrike">
                <a:solidFill>
                  <a:srgbClr val="0d0d0d"/>
                </a:solidFill>
                <a:highlight>
                  <a:srgbClr val="ffffff"/>
                </a:highlight>
                <a:latin typeface="Roboto"/>
                <a:ea typeface="Roboto"/>
              </a:rPr>
              <a:t>: Trin, der udføres som en del af deploy-jobbet.</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Roboto"/>
                <a:ea typeface="Roboto"/>
              </a:rPr>
              <a:t>Download artifact: Henter den JAR-fil, der blev oprettet og uploadet under build-jobbet.</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Roboto"/>
                <a:ea typeface="Roboto"/>
              </a:rPr>
              <a:t>Deploy til Azure Web App: Bruger </a:t>
            </a:r>
            <a:r>
              <a:rPr b="0" lang="da" sz="800" spc="-1" strike="noStrike">
                <a:solidFill>
                  <a:srgbClr val="0d0d0d"/>
                </a:solidFill>
                <a:highlight>
                  <a:srgbClr val="ffffff"/>
                </a:highlight>
                <a:latin typeface="Courier New"/>
                <a:ea typeface="Courier New"/>
              </a:rPr>
              <a:t>azure/webapps-deploy@v2</a:t>
            </a:r>
            <a:r>
              <a:rPr b="0" lang="da" sz="800" spc="-1" strike="noStrike">
                <a:solidFill>
                  <a:srgbClr val="0d0d0d"/>
                </a:solidFill>
                <a:highlight>
                  <a:srgbClr val="ffffff"/>
                </a:highlight>
                <a:latin typeface="Roboto"/>
                <a:ea typeface="Roboto"/>
              </a:rPr>
              <a:t> for at deploye JAR-filen til den specificerede Azure Web App (</a:t>
            </a:r>
            <a:r>
              <a:rPr b="0" lang="da" sz="800" spc="-1" strike="noStrike">
                <a:solidFill>
                  <a:srgbClr val="0d0d0d"/>
                </a:solidFill>
                <a:highlight>
                  <a:srgbClr val="ffffff"/>
                </a:highlight>
                <a:latin typeface="Courier New"/>
                <a:ea typeface="Courier New"/>
              </a:rPr>
              <a:t>springappdemo</a:t>
            </a:r>
            <a:r>
              <a:rPr b="0" lang="da" sz="800" spc="-1" strike="noStrike">
                <a:solidFill>
                  <a:srgbClr val="0d0d0d"/>
                </a:solidFill>
                <a:highlight>
                  <a:srgbClr val="ffffff"/>
                </a:highlight>
                <a:latin typeface="Roboto"/>
                <a:ea typeface="Roboto"/>
              </a:rPr>
              <a:t>) i </a:t>
            </a:r>
            <a:r>
              <a:rPr b="0" lang="da" sz="800" spc="-1" strike="noStrike">
                <a:solidFill>
                  <a:srgbClr val="0d0d0d"/>
                </a:solidFill>
                <a:highlight>
                  <a:srgbClr val="ffffff"/>
                </a:highlight>
                <a:latin typeface="Courier New"/>
                <a:ea typeface="Courier New"/>
              </a:rPr>
              <a:t>Production</a:t>
            </a:r>
            <a:r>
              <a:rPr b="0" lang="da" sz="800" spc="-1" strike="noStrike">
                <a:solidFill>
                  <a:srgbClr val="0d0d0d"/>
                </a:solidFill>
                <a:highlight>
                  <a:srgbClr val="ffffff"/>
                </a:highlight>
                <a:latin typeface="Roboto"/>
                <a:ea typeface="Roboto"/>
              </a:rPr>
              <a:t> slot.</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app-name</a:t>
            </a:r>
            <a:r>
              <a:rPr b="0" lang="da" sz="800" spc="-1" strike="noStrike">
                <a:solidFill>
                  <a:srgbClr val="0d0d0d"/>
                </a:solidFill>
                <a:highlight>
                  <a:srgbClr val="ffffff"/>
                </a:highlight>
                <a:latin typeface="Roboto"/>
                <a:ea typeface="Roboto"/>
              </a:rPr>
              <a:t>: Navnet på Azure Web App, hvor JAR-filen skal deployes.</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slot-name</a:t>
            </a:r>
            <a:r>
              <a:rPr b="0" lang="da" sz="800" spc="-1" strike="noStrike">
                <a:solidFill>
                  <a:srgbClr val="0d0d0d"/>
                </a:solidFill>
                <a:highlight>
                  <a:srgbClr val="ffffff"/>
                </a:highlight>
                <a:latin typeface="Roboto"/>
                <a:ea typeface="Roboto"/>
              </a:rPr>
              <a:t>: Angiver slot-navnet, som i dette tilfælde er </a:t>
            </a:r>
            <a:r>
              <a:rPr b="0" lang="da" sz="800" spc="-1" strike="noStrike">
                <a:solidFill>
                  <a:srgbClr val="0d0d0d"/>
                </a:solidFill>
                <a:highlight>
                  <a:srgbClr val="ffffff"/>
                </a:highlight>
                <a:latin typeface="Courier New"/>
                <a:ea typeface="Courier New"/>
              </a:rPr>
              <a:t>Production</a:t>
            </a:r>
            <a:r>
              <a:rPr b="0" lang="da" sz="800" spc="-1" strike="noStrike">
                <a:solidFill>
                  <a:srgbClr val="0d0d0d"/>
                </a:solidFill>
                <a:highlight>
                  <a:srgbClr val="ffffff"/>
                </a:highlight>
                <a:latin typeface="Roboto"/>
                <a:ea typeface="Roboto"/>
              </a:rPr>
              <a:t>. Slots tillader dig at have forskellige versioner af din app deployeret og let skifte mellem dem.</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package</a:t>
            </a:r>
            <a:r>
              <a:rPr b="0" lang="da" sz="800" spc="-1" strike="noStrike">
                <a:solidFill>
                  <a:srgbClr val="0d0d0d"/>
                </a:solidFill>
                <a:highlight>
                  <a:srgbClr val="ffffff"/>
                </a:highlight>
                <a:latin typeface="Roboto"/>
                <a:ea typeface="Roboto"/>
              </a:rPr>
              <a:t>: Stien til JAR-filen, der skal deployes.</a:t>
            </a:r>
            <a:endParaRPr b="0" lang="en-US" sz="800" spc="-1" strike="noStrike">
              <a:solidFill>
                <a:srgbClr val="000000"/>
              </a:solidFill>
              <a:latin typeface="Arial"/>
            </a:endParaRPr>
          </a:p>
          <a:p>
            <a:pPr lvl="1" marL="914400" indent="-279360">
              <a:lnSpc>
                <a:spcPct val="115000"/>
              </a:lnSpc>
              <a:buClr>
                <a:srgbClr val="0d0d0d"/>
              </a:buClr>
              <a:buFont typeface="Roboto"/>
              <a:buChar char="●"/>
              <a:tabLst>
                <a:tab algn="l" pos="0"/>
              </a:tabLst>
            </a:pPr>
            <a:r>
              <a:rPr b="0" lang="da" sz="800" spc="-1" strike="noStrike">
                <a:solidFill>
                  <a:srgbClr val="0d0d0d"/>
                </a:solidFill>
                <a:highlight>
                  <a:srgbClr val="ffffff"/>
                </a:highlight>
                <a:latin typeface="Courier New"/>
                <a:ea typeface="Courier New"/>
              </a:rPr>
              <a:t>publish-profile</a:t>
            </a:r>
            <a:r>
              <a:rPr b="0" lang="da" sz="800" spc="-1" strike="noStrike">
                <a:solidFill>
                  <a:srgbClr val="0d0d0d"/>
                </a:solidFill>
                <a:highlight>
                  <a:srgbClr val="ffffff"/>
                </a:highlight>
                <a:latin typeface="Roboto"/>
                <a:ea typeface="Roboto"/>
              </a:rPr>
              <a:t>: Bruger en ‘secret’ (</a:t>
            </a:r>
            <a:r>
              <a:rPr b="0" lang="da" sz="800" spc="-1" strike="noStrike">
                <a:solidFill>
                  <a:srgbClr val="0d0d0d"/>
                </a:solidFill>
                <a:highlight>
                  <a:srgbClr val="ffffff"/>
                </a:highlight>
                <a:latin typeface="Courier New"/>
                <a:ea typeface="Courier New"/>
              </a:rPr>
              <a:t>secrets.AZUREAPPSERVICE_PUBLISHPROFILE...</a:t>
            </a:r>
            <a:r>
              <a:rPr b="0" lang="da" sz="800" spc="-1" strike="noStrike">
                <a:solidFill>
                  <a:srgbClr val="0d0d0d"/>
                </a:solidFill>
                <a:highlight>
                  <a:srgbClr val="ffffff"/>
                </a:highlight>
                <a:latin typeface="Roboto"/>
                <a:ea typeface="Roboto"/>
              </a:rPr>
              <a:t>) til autentificering. Denne ‘secret’ skal være defineret i GitHub repository's secrets.</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Azure for students</a:t>
            </a:r>
            <a:endParaRPr b="0" lang="en-US" sz="2400" spc="-1" strike="noStrike">
              <a:solidFill>
                <a:srgbClr val="000000"/>
              </a:solidFill>
              <a:latin typeface="Arial"/>
            </a:endParaRPr>
          </a:p>
        </p:txBody>
      </p:sp>
      <p:sp>
        <p:nvSpPr>
          <p:cNvPr id="266" name="PlaceHolder 2"/>
          <p:cNvSpPr>
            <a:spLocks noGrp="1"/>
          </p:cNvSpPr>
          <p:nvPr>
            <p:ph/>
          </p:nvPr>
        </p:nvSpPr>
        <p:spPr>
          <a:xfrm>
            <a:off x="571680" y="1107000"/>
            <a:ext cx="7933680" cy="4628160"/>
          </a:xfrm>
          <a:prstGeom prst="rect">
            <a:avLst/>
          </a:prstGeom>
          <a:noFill/>
          <a:ln w="0">
            <a:noFill/>
          </a:ln>
        </p:spPr>
        <p:txBody>
          <a:bodyPr lIns="90000" rIns="90000" tIns="91440" bIns="91440" anchor="t">
            <a:noAutofit/>
          </a:bodyPr>
          <a:p>
            <a:pPr marL="457200" indent="-304920">
              <a:lnSpc>
                <a:spcPct val="115000"/>
              </a:lnSpc>
              <a:spcBef>
                <a:spcPts val="1500"/>
              </a:spcBef>
              <a:buClr>
                <a:srgbClr val="0d0d0d"/>
              </a:buClr>
              <a:buFont typeface="Roboto"/>
              <a:buChar char="●"/>
            </a:pPr>
            <a:r>
              <a:rPr b="0" lang="da" sz="1200" spc="-1" strike="noStrike">
                <a:solidFill>
                  <a:srgbClr val="0d0d0d"/>
                </a:solidFill>
                <a:highlight>
                  <a:srgbClr val="ffffff"/>
                </a:highlight>
                <a:latin typeface="Roboto"/>
                <a:ea typeface="Roboto"/>
              </a:rPr>
              <a:t>Azure for Students er kun tilgængeligt for studerende, der opfylder følgende krav: </a:t>
            </a:r>
            <a:endParaRPr b="0" lang="en-US" sz="1200" spc="-1" strike="noStrike">
              <a:solidFill>
                <a:srgbClr val="000000"/>
              </a:solidFill>
              <a:latin typeface="Arial"/>
            </a:endParaRPr>
          </a:p>
          <a:p>
            <a:pPr lvl="1" marL="914400" indent="-298440">
              <a:lnSpc>
                <a:spcPct val="115000"/>
              </a:lnSpc>
              <a:buClr>
                <a:srgbClr val="000000"/>
              </a:buClr>
              <a:buFont typeface="Arial"/>
              <a:buAutoNum type="alphaLcPeriod"/>
            </a:pPr>
            <a:r>
              <a:rPr b="0" lang="da" sz="1200" spc="-1" strike="noStrike">
                <a:solidFill>
                  <a:srgbClr val="0d0d0d"/>
                </a:solidFill>
                <a:highlight>
                  <a:srgbClr val="ffffff"/>
                </a:highlight>
                <a:latin typeface="Roboto"/>
                <a:ea typeface="Roboto"/>
              </a:rPr>
              <a:t>Du skal bekræfte, at du er 18 år eller ældre og går på en akkrediteret, kompetencegivende uddannelsesinstitution, hvor du er fuldtidsstuderende. </a:t>
            </a:r>
            <a:endParaRPr b="0" lang="en-US" sz="1200" spc="-1" strike="noStrike">
              <a:solidFill>
                <a:srgbClr val="000000"/>
              </a:solidFill>
              <a:latin typeface="Arial"/>
            </a:endParaRPr>
          </a:p>
          <a:p>
            <a:pPr lvl="1" marL="914400" indent="-298440">
              <a:lnSpc>
                <a:spcPct val="115000"/>
              </a:lnSpc>
              <a:buClr>
                <a:srgbClr val="000000"/>
              </a:buClr>
              <a:buFont typeface="Arial"/>
              <a:buAutoNum type="alphaLcPeriod"/>
            </a:pPr>
            <a:r>
              <a:rPr b="0" lang="da" sz="1200" spc="-1" strike="noStrike">
                <a:solidFill>
                  <a:srgbClr val="0d0d0d"/>
                </a:solidFill>
                <a:highlight>
                  <a:srgbClr val="ffffff"/>
                </a:highlight>
                <a:latin typeface="Roboto"/>
                <a:ea typeface="Roboto"/>
              </a:rPr>
              <a:t>Du skal bekræfte din akademiske status via din organisations e-mailadresse. (@kea.dk)</a:t>
            </a:r>
            <a:br>
              <a:rPr sz="1200"/>
            </a:br>
            <a:r>
              <a:rPr b="0" lang="da" sz="1200" spc="-1" strike="noStrike">
                <a:solidFill>
                  <a:srgbClr val="0d0d0d"/>
                </a:solidFill>
                <a:highlight>
                  <a:srgbClr val="ffffff"/>
                </a:highlight>
                <a:latin typeface="Roboto"/>
                <a:ea typeface="Roboto"/>
              </a:rPr>
              <a:t>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0" lang="da" sz="1200" spc="-1" strike="noStrike">
                <a:solidFill>
                  <a:srgbClr val="0d0d0d"/>
                </a:solidFill>
                <a:highlight>
                  <a:srgbClr val="ffffff"/>
                </a:highlight>
                <a:latin typeface="Roboto"/>
                <a:ea typeface="Roboto"/>
              </a:rPr>
              <a:t>Azure for Students giver adgang til en række gratis tjenester og en begrænset mængde af kredit ($100 for 12 måneder) til at bruge på andre Azure-tjenester. </a:t>
            </a:r>
            <a:endParaRPr b="0" lang="en-US" sz="1200" spc="-1" strike="noStrike">
              <a:solidFill>
                <a:srgbClr val="000000"/>
              </a:solidFill>
              <a:latin typeface="Arial"/>
            </a:endParaRPr>
          </a:p>
          <a:p>
            <a:pPr marL="457200" indent="0">
              <a:lnSpc>
                <a:spcPct val="115000"/>
              </a:lnSpc>
              <a:spcBef>
                <a:spcPts val="1500"/>
              </a:spcBef>
              <a:buNone/>
              <a:tabLst>
                <a:tab algn="l" pos="0"/>
              </a:tabLst>
            </a:pPr>
            <a:r>
              <a:rPr b="1" lang="da" sz="1200" spc="-1" strike="noStrike">
                <a:solidFill>
                  <a:srgbClr val="0d0d0d"/>
                </a:solidFill>
                <a:highlight>
                  <a:srgbClr val="ffffff"/>
                </a:highlight>
                <a:latin typeface="Roboto"/>
                <a:ea typeface="Roboto"/>
              </a:rPr>
              <a:t>Hvis du opbruger dine tilgængelige kreditter, vil dit Azure-abonnement blive deaktiveret. Du kan derefter igen få $100 de næste 12 måneder. Dine data vil blive slettet så husk backup</a:t>
            </a:r>
            <a:endParaRPr b="0" lang="en-US" sz="1200" spc="-1" strike="noStrike">
              <a:solidFill>
                <a:srgbClr val="000000"/>
              </a:solidFill>
              <a:latin typeface="Arial"/>
            </a:endParaRPr>
          </a:p>
          <a:p>
            <a:pPr marL="457200"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67" name="Google Shape;241;p28" descr=""/>
          <p:cNvPicPr/>
          <p:nvPr/>
        </p:nvPicPr>
        <p:blipFill>
          <a:blip r:embed="rId1"/>
          <a:stretch/>
        </p:blipFill>
        <p:spPr>
          <a:xfrm>
            <a:off x="783360" y="3042360"/>
            <a:ext cx="249840" cy="2433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Brug kun “Free services”</a:t>
            </a:r>
            <a:endParaRPr b="0" lang="en-US" sz="2400" spc="-1" strike="noStrike">
              <a:solidFill>
                <a:srgbClr val="000000"/>
              </a:solidFill>
              <a:latin typeface="Arial"/>
            </a:endParaRPr>
          </a:p>
        </p:txBody>
      </p:sp>
      <p:sp>
        <p:nvSpPr>
          <p:cNvPr id="269" name="PlaceHolder 2"/>
          <p:cNvSpPr>
            <a:spLocks noGrp="1"/>
          </p:cNvSpPr>
          <p:nvPr>
            <p:ph/>
          </p:nvPr>
        </p:nvSpPr>
        <p:spPr>
          <a:xfrm>
            <a:off x="571680" y="1107000"/>
            <a:ext cx="7933680" cy="851040"/>
          </a:xfrm>
          <a:prstGeom prst="rect">
            <a:avLst/>
          </a:prstGeom>
          <a:noFill/>
          <a:ln w="0">
            <a:noFill/>
          </a:ln>
        </p:spPr>
        <p:txBody>
          <a:bodyPr lIns="90000" rIns="90000" tIns="91440" bIns="91440" anchor="t">
            <a:noAutofit/>
          </a:bodyPr>
          <a:p>
            <a:pPr marL="457200" indent="-304920">
              <a:lnSpc>
                <a:spcPct val="115000"/>
              </a:lnSpc>
              <a:spcBef>
                <a:spcPts val="1500"/>
              </a:spcBef>
              <a:buClr>
                <a:srgbClr val="0d0d0d"/>
              </a:buClr>
              <a:buFont typeface="Roboto"/>
              <a:buChar char="●"/>
            </a:pPr>
            <a:r>
              <a:rPr b="0" lang="da" sz="1200" spc="-1" strike="noStrike">
                <a:solidFill>
                  <a:srgbClr val="0d0d0d"/>
                </a:solidFill>
                <a:highlight>
                  <a:srgbClr val="ffffff"/>
                </a:highlight>
                <a:latin typeface="Roboto"/>
                <a:ea typeface="Roboto"/>
              </a:rPr>
              <a:t>Brug kun “Free services” (søg efter “free services”)</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70" name="Google Shape;248;p29" descr=""/>
          <p:cNvPicPr/>
          <p:nvPr/>
        </p:nvPicPr>
        <p:blipFill>
          <a:blip r:embed="rId1"/>
          <a:stretch/>
        </p:blipFill>
        <p:spPr>
          <a:xfrm>
            <a:off x="1168200" y="1958400"/>
            <a:ext cx="4323960" cy="1896120"/>
          </a:xfrm>
          <a:prstGeom prst="rect">
            <a:avLst/>
          </a:prstGeom>
          <a:ln w="0">
            <a:noFill/>
          </a:ln>
        </p:spPr>
      </p:pic>
      <p:pic>
        <p:nvPicPr>
          <p:cNvPr id="271" name="Google Shape;249;p29" descr=""/>
          <p:cNvPicPr/>
          <p:nvPr/>
        </p:nvPicPr>
        <p:blipFill>
          <a:blip r:embed="rId2"/>
          <a:stretch/>
        </p:blipFill>
        <p:spPr>
          <a:xfrm>
            <a:off x="1168200" y="4168440"/>
            <a:ext cx="4320000" cy="1894680"/>
          </a:xfrm>
          <a:prstGeom prst="rect">
            <a:avLst/>
          </a:prstGeom>
          <a:ln w="0">
            <a:noFill/>
          </a:ln>
        </p:spPr>
      </p:pic>
      <p:sp>
        <p:nvSpPr>
          <p:cNvPr id="272" name="Google Shape;250;p29"/>
          <p:cNvSpPr/>
          <p:nvPr/>
        </p:nvSpPr>
        <p:spPr>
          <a:xfrm>
            <a:off x="1945080" y="1856160"/>
            <a:ext cx="685080" cy="310320"/>
          </a:xfrm>
          <a:prstGeom prst="ellipse">
            <a:avLst/>
          </a:prstGeom>
          <a:noFill/>
          <a:ln w="19050">
            <a:solidFill>
              <a:srgbClr val="cc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
        <p:nvSpPr>
          <p:cNvPr id="273" name="Google Shape;251;p29"/>
          <p:cNvSpPr/>
          <p:nvPr/>
        </p:nvSpPr>
        <p:spPr>
          <a:xfrm>
            <a:off x="1110240" y="5061240"/>
            <a:ext cx="1085040" cy="310320"/>
          </a:xfrm>
          <a:prstGeom prst="ellipse">
            <a:avLst/>
          </a:prstGeom>
          <a:noFill/>
          <a:ln w="19050">
            <a:solidFill>
              <a:srgbClr val="cc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cxnSp>
        <p:nvCxnSpPr>
          <p:cNvPr id="274" name="Google Shape;252;p29"/>
          <p:cNvCxnSpPr>
            <a:stCxn id="272" idx="4"/>
            <a:endCxn id="273" idx="0"/>
          </p:cNvCxnSpPr>
          <p:nvPr/>
        </p:nvCxnSpPr>
        <p:spPr>
          <a:xfrm flipV="1" rot="10800000">
            <a:off x="1652760" y="2166480"/>
            <a:ext cx="635400" cy="2895120"/>
          </a:xfrm>
          <a:prstGeom prst="curvedConnector2">
            <a:avLst/>
          </a:prstGeom>
          <a:ln w="9525">
            <a:solidFill>
              <a:srgbClr val="cc0000"/>
            </a:solidFill>
            <a:round/>
            <a:tailEnd len="med" type="stealth" w="med"/>
          </a:ln>
        </p:spPr>
      </p:cxnSp>
      <p:pic>
        <p:nvPicPr>
          <p:cNvPr id="275" name="Google Shape;253;p29" descr=""/>
          <p:cNvPicPr/>
          <p:nvPr/>
        </p:nvPicPr>
        <p:blipFill>
          <a:blip r:embed="rId3"/>
          <a:stretch/>
        </p:blipFill>
        <p:spPr>
          <a:xfrm>
            <a:off x="4572000" y="340200"/>
            <a:ext cx="352440" cy="3430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6" name="Google Shape;258;p30" descr=""/>
          <p:cNvPicPr/>
          <p:nvPr/>
        </p:nvPicPr>
        <p:blipFill>
          <a:blip r:embed="rId1"/>
          <a:stretch/>
        </p:blipFill>
        <p:spPr>
          <a:xfrm>
            <a:off x="1181160" y="1958400"/>
            <a:ext cx="6550560" cy="3233160"/>
          </a:xfrm>
          <a:prstGeom prst="rect">
            <a:avLst/>
          </a:prstGeom>
          <a:ln w="0">
            <a:noFill/>
          </a:ln>
        </p:spPr>
      </p:pic>
      <p:sp>
        <p:nvSpPr>
          <p:cNvPr id="27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Stop services når du ikke bruger dem </a:t>
            </a:r>
            <a:endParaRPr b="0" lang="en-US" sz="2400" spc="-1" strike="noStrike">
              <a:solidFill>
                <a:srgbClr val="000000"/>
              </a:solidFill>
              <a:latin typeface="Arial"/>
            </a:endParaRPr>
          </a:p>
        </p:txBody>
      </p:sp>
      <p:sp>
        <p:nvSpPr>
          <p:cNvPr id="278" name="PlaceHolder 2"/>
          <p:cNvSpPr>
            <a:spLocks noGrp="1"/>
          </p:cNvSpPr>
          <p:nvPr>
            <p:ph/>
          </p:nvPr>
        </p:nvSpPr>
        <p:spPr>
          <a:xfrm>
            <a:off x="571680" y="1107000"/>
            <a:ext cx="7933680" cy="851040"/>
          </a:xfrm>
          <a:prstGeom prst="rect">
            <a:avLst/>
          </a:prstGeom>
          <a:noFill/>
          <a:ln w="0">
            <a:noFill/>
          </a:ln>
        </p:spPr>
        <p:txBody>
          <a:bodyPr lIns="90000" rIns="90000" tIns="91440" bIns="91440" anchor="t">
            <a:noAutofit/>
          </a:bodyPr>
          <a:p>
            <a:pPr marL="457200" indent="-304920">
              <a:lnSpc>
                <a:spcPct val="115000"/>
              </a:lnSpc>
              <a:spcBef>
                <a:spcPts val="1500"/>
              </a:spcBef>
              <a:buClr>
                <a:srgbClr val="0d0d0d"/>
              </a:buClr>
              <a:buFont typeface="Roboto"/>
              <a:buChar char="●"/>
            </a:pPr>
            <a:r>
              <a:rPr b="0" lang="da" sz="1200" spc="-1" strike="noStrike">
                <a:solidFill>
                  <a:srgbClr val="0d0d0d"/>
                </a:solidFill>
                <a:highlight>
                  <a:srgbClr val="ffffff"/>
                </a:highlight>
                <a:latin typeface="Roboto"/>
                <a:ea typeface="Roboto"/>
              </a:rPr>
              <a:t>Stop altid dine services når du ikke bruger dem</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sp>
        <p:nvSpPr>
          <p:cNvPr id="279" name="Google Shape;261;p30"/>
          <p:cNvSpPr/>
          <p:nvPr/>
        </p:nvSpPr>
        <p:spPr>
          <a:xfrm>
            <a:off x="2876400" y="2558520"/>
            <a:ext cx="352440" cy="214200"/>
          </a:xfrm>
          <a:prstGeom prst="ellipse">
            <a:avLst/>
          </a:prstGeom>
          <a:noFill/>
          <a:ln w="19050">
            <a:solidFill>
              <a:srgbClr val="cc0000"/>
            </a:solidFill>
            <a:round/>
          </a:ln>
        </p:spPr>
        <p:style>
          <a:lnRef idx="0"/>
          <a:fillRef idx="0"/>
          <a:effectRef idx="0"/>
          <a:fontRef idx="minor"/>
        </p:style>
        <p:txBody>
          <a:bodyPr lIns="90000" rIns="90000" tIns="75600" bIns="75600" anchor="ctr">
            <a:noAutofit/>
          </a:bodyPr>
          <a:p>
            <a:pPr algn="ctr">
              <a:lnSpc>
                <a:spcPct val="100000"/>
              </a:lnSpc>
              <a:tabLst>
                <a:tab algn="l" pos="0"/>
              </a:tabLst>
            </a:pPr>
            <a:endParaRPr b="0" lang="en-US" sz="1400" spc="-1" strike="noStrike">
              <a:solidFill>
                <a:srgbClr val="000000"/>
              </a:solidFill>
              <a:latin typeface="Verdana"/>
              <a:ea typeface="Verdana"/>
            </a:endParaRPr>
          </a:p>
        </p:txBody>
      </p:sp>
      <p:pic>
        <p:nvPicPr>
          <p:cNvPr id="280" name="Google Shape;262;p30" descr=""/>
          <p:cNvPicPr/>
          <p:nvPr/>
        </p:nvPicPr>
        <p:blipFill>
          <a:blip r:embed="rId2"/>
          <a:stretch/>
        </p:blipFill>
        <p:spPr>
          <a:xfrm>
            <a:off x="6484680" y="329760"/>
            <a:ext cx="352440" cy="34308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Værktøjer til overvågning </a:t>
            </a:r>
            <a:endParaRPr b="0" lang="en-US" sz="2400" spc="-1" strike="noStrike">
              <a:solidFill>
                <a:srgbClr val="000000"/>
              </a:solidFill>
              <a:latin typeface="Arial"/>
            </a:endParaRPr>
          </a:p>
        </p:txBody>
      </p:sp>
      <p:sp>
        <p:nvSpPr>
          <p:cNvPr id="282" name="PlaceHolder 2"/>
          <p:cNvSpPr>
            <a:spLocks noGrp="1"/>
          </p:cNvSpPr>
          <p:nvPr>
            <p:ph/>
          </p:nvPr>
        </p:nvSpPr>
        <p:spPr>
          <a:xfrm>
            <a:off x="604800" y="963360"/>
            <a:ext cx="7933680" cy="2109960"/>
          </a:xfrm>
          <a:prstGeom prst="rect">
            <a:avLst/>
          </a:prstGeom>
          <a:noFill/>
          <a:ln w="0">
            <a:noFill/>
          </a:ln>
        </p:spPr>
        <p:txBody>
          <a:bodyPr lIns="90000" rIns="90000" tIns="91440" bIns="91440" anchor="t">
            <a:noAutofit/>
          </a:bodyPr>
          <a:p>
            <a:pPr indent="0">
              <a:lnSpc>
                <a:spcPct val="115000"/>
              </a:lnSpc>
              <a:spcBef>
                <a:spcPts val="1500"/>
              </a:spcBef>
              <a:buNone/>
              <a:tabLst>
                <a:tab algn="l" pos="0"/>
              </a:tabLst>
            </a:pPr>
            <a:r>
              <a:rPr b="0" lang="da" sz="1200" spc="-1" strike="noStrike">
                <a:solidFill>
                  <a:srgbClr val="0d0d0d"/>
                </a:solidFill>
                <a:highlight>
                  <a:srgbClr val="ffffff"/>
                </a:highlight>
                <a:latin typeface="Roboto"/>
                <a:ea typeface="Roboto"/>
              </a:rPr>
              <a:t>For at undgå uventede omkostninger:</a:t>
            </a:r>
            <a:endParaRPr b="0" lang="en-US" sz="1200" spc="-1" strike="noStrike">
              <a:solidFill>
                <a:srgbClr val="000000"/>
              </a:solidFill>
              <a:latin typeface="Arial"/>
            </a:endParaRPr>
          </a:p>
          <a:p>
            <a:pPr marL="457200" indent="-304920">
              <a:lnSpc>
                <a:spcPct val="115000"/>
              </a:lnSpc>
              <a:spcBef>
                <a:spcPts val="1500"/>
              </a:spcBef>
              <a:buClr>
                <a:srgbClr val="0d0d0d"/>
              </a:buClr>
              <a:buFont typeface="Roboto"/>
              <a:buChar char="●"/>
              <a:tabLst>
                <a:tab algn="l" pos="0"/>
              </a:tabLst>
            </a:pPr>
            <a:r>
              <a:rPr b="1" lang="da" sz="1200" spc="-1" strike="noStrike">
                <a:solidFill>
                  <a:srgbClr val="0d0d0d"/>
                </a:solidFill>
                <a:highlight>
                  <a:srgbClr val="ffffff"/>
                </a:highlight>
                <a:latin typeface="Roboto"/>
                <a:ea typeface="Roboto"/>
              </a:rPr>
              <a:t>Overvåg dit forbrug nøje:</a:t>
            </a:r>
            <a:r>
              <a:rPr b="0" lang="da" sz="1200" spc="-1" strike="noStrike">
                <a:solidFill>
                  <a:srgbClr val="0d0d0d"/>
                </a:solidFill>
                <a:highlight>
                  <a:srgbClr val="ffffff"/>
                </a:highlight>
                <a:latin typeface="Roboto"/>
                <a:ea typeface="Roboto"/>
              </a:rPr>
              <a:t> Brug Azure Cost Management og Billing-værktøjerne til regelmæssigt at tjekke dit forbrug og sikre, at du forbliver inden for budgettet.</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1" lang="da" sz="1200" spc="-1" strike="noStrike">
                <a:solidFill>
                  <a:srgbClr val="0d0d0d"/>
                </a:solidFill>
                <a:highlight>
                  <a:srgbClr val="ffffff"/>
                </a:highlight>
                <a:latin typeface="Roboto"/>
                <a:ea typeface="Roboto"/>
              </a:rPr>
              <a:t>Sæt budgetalarmer:</a:t>
            </a:r>
            <a:r>
              <a:rPr b="0" lang="da" sz="1200" spc="-1" strike="noStrike">
                <a:solidFill>
                  <a:srgbClr val="0d0d0d"/>
                </a:solidFill>
                <a:highlight>
                  <a:srgbClr val="ffffff"/>
                </a:highlight>
                <a:latin typeface="Roboto"/>
                <a:ea typeface="Roboto"/>
              </a:rPr>
              <a:t> Konfigurer budgetalarmer for at få besked, før dit forbrug når bestemte tærskler.</a:t>
            </a:r>
            <a:endParaRPr b="0" lang="en-US" sz="1200" spc="-1" strike="noStrike">
              <a:solidFill>
                <a:srgbClr val="000000"/>
              </a:solidFill>
              <a:latin typeface="Arial"/>
            </a:endParaRPr>
          </a:p>
          <a:p>
            <a:pPr marL="457200" indent="-304920">
              <a:lnSpc>
                <a:spcPct val="115000"/>
              </a:lnSpc>
              <a:buClr>
                <a:srgbClr val="0d0d0d"/>
              </a:buClr>
              <a:buFont typeface="Roboto"/>
              <a:buChar char="●"/>
              <a:tabLst>
                <a:tab algn="l" pos="0"/>
              </a:tabLst>
            </a:pPr>
            <a:r>
              <a:rPr b="1" lang="da" sz="1200" spc="-1" strike="noStrike">
                <a:solidFill>
                  <a:srgbClr val="0d0d0d"/>
                </a:solidFill>
                <a:highlight>
                  <a:srgbClr val="ffffff"/>
                </a:highlight>
                <a:latin typeface="Roboto"/>
                <a:ea typeface="Roboto"/>
              </a:rPr>
              <a:t>Forstå tjenesternes prissætning: </a:t>
            </a:r>
            <a:r>
              <a:rPr b="0" lang="da" sz="1200" spc="-1" strike="noStrike">
                <a:solidFill>
                  <a:srgbClr val="0d0d0d"/>
                </a:solidFill>
                <a:highlight>
                  <a:srgbClr val="ffffff"/>
                </a:highlight>
                <a:latin typeface="Roboto"/>
                <a:ea typeface="Roboto"/>
              </a:rPr>
              <a:t>Før du anvender en tjeneste, sørg for at forstå, hvordan den prissættes, og hvad der er inkluderet i de gratis tilbud.</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Cost management - overvåg dit forbrug</a:t>
            </a:r>
            <a:endParaRPr b="0" lang="en-US" sz="2400" spc="-1" strike="noStrike">
              <a:solidFill>
                <a:srgbClr val="000000"/>
              </a:solidFill>
              <a:latin typeface="Arial"/>
            </a:endParaRPr>
          </a:p>
        </p:txBody>
      </p:sp>
      <p:sp>
        <p:nvSpPr>
          <p:cNvPr id="284" name="PlaceHolder 2"/>
          <p:cNvSpPr>
            <a:spLocks noGrp="1"/>
          </p:cNvSpPr>
          <p:nvPr>
            <p:ph/>
          </p:nvPr>
        </p:nvSpPr>
        <p:spPr>
          <a:xfrm>
            <a:off x="604800" y="963360"/>
            <a:ext cx="7933680" cy="851040"/>
          </a:xfrm>
          <a:prstGeom prst="rect">
            <a:avLst/>
          </a:prstGeom>
          <a:noFill/>
          <a:ln w="0">
            <a:noFill/>
          </a:ln>
        </p:spPr>
        <p:txBody>
          <a:bodyPr lIns="90000" rIns="90000" tIns="91440" bIns="91440" anchor="t">
            <a:noAutofit/>
          </a:bodyPr>
          <a:p>
            <a:pPr indent="0">
              <a:lnSpc>
                <a:spcPct val="115000"/>
              </a:lnSpc>
              <a:spcBef>
                <a:spcPts val="1500"/>
              </a:spcBef>
              <a:buNone/>
              <a:tabLst>
                <a:tab algn="l" pos="0"/>
              </a:tabLst>
            </a:pPr>
            <a:r>
              <a:rPr b="0" lang="da" sz="1200" spc="-1" strike="noStrike">
                <a:solidFill>
                  <a:srgbClr val="0d0d0d"/>
                </a:solidFill>
                <a:highlight>
                  <a:srgbClr val="ffffff"/>
                </a:highlight>
                <a:latin typeface="Roboto"/>
                <a:ea typeface="Roboto"/>
              </a:rPr>
              <a:t>Søg på “cost management” og vælg “cost management + billing”</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85" name="Google Shape;275;p32" descr=""/>
          <p:cNvPicPr/>
          <p:nvPr/>
        </p:nvPicPr>
        <p:blipFill>
          <a:blip r:embed="rId1"/>
          <a:stretch/>
        </p:blipFill>
        <p:spPr>
          <a:xfrm>
            <a:off x="676800" y="1757160"/>
            <a:ext cx="7790040" cy="3342960"/>
          </a:xfrm>
          <a:prstGeom prst="rect">
            <a:avLst/>
          </a:prstGeom>
          <a:ln w="0">
            <a:noFill/>
          </a:ln>
        </p:spPr>
      </p:pic>
      <p:sp>
        <p:nvSpPr>
          <p:cNvPr id="286" name="Google Shape;276;p32"/>
          <p:cNvSpPr/>
          <p:nvPr/>
        </p:nvSpPr>
        <p:spPr>
          <a:xfrm>
            <a:off x="2120040" y="2214360"/>
            <a:ext cx="401400" cy="310320"/>
          </a:xfrm>
          <a:prstGeom prst="ellipse">
            <a:avLst/>
          </a:prstGeom>
          <a:noFill/>
          <a:ln w="19050">
            <a:solidFill>
              <a:srgbClr val="cc0000"/>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Verdana"/>
              <a:ea typeface="Verdana"/>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Cost management – cost analysis</a:t>
            </a:r>
            <a:endParaRPr b="0" lang="en-US" sz="2400" spc="-1" strike="noStrike">
              <a:solidFill>
                <a:srgbClr val="000000"/>
              </a:solidFill>
              <a:latin typeface="Arial"/>
            </a:endParaRPr>
          </a:p>
        </p:txBody>
      </p:sp>
      <p:sp>
        <p:nvSpPr>
          <p:cNvPr id="288" name="PlaceHolder 2"/>
          <p:cNvSpPr>
            <a:spLocks noGrp="1"/>
          </p:cNvSpPr>
          <p:nvPr>
            <p:ph/>
          </p:nvPr>
        </p:nvSpPr>
        <p:spPr>
          <a:xfrm>
            <a:off x="604800" y="963360"/>
            <a:ext cx="7933680" cy="851040"/>
          </a:xfrm>
          <a:prstGeom prst="rect">
            <a:avLst/>
          </a:prstGeom>
          <a:noFill/>
          <a:ln w="0">
            <a:noFill/>
          </a:ln>
        </p:spPr>
        <p:txBody>
          <a:bodyPr lIns="90000" rIns="90000" tIns="91440" bIns="91440" anchor="t">
            <a:noAutofit/>
          </a:bodyPr>
          <a:p>
            <a:pPr indent="0">
              <a:lnSpc>
                <a:spcPct val="115000"/>
              </a:lnSpc>
              <a:spcBef>
                <a:spcPts val="1500"/>
              </a:spcBef>
              <a:buNone/>
              <a:tabLst>
                <a:tab algn="l" pos="0"/>
              </a:tabLst>
            </a:pPr>
            <a:r>
              <a:rPr b="0" lang="da-DK" sz="1200" spc="-1" strike="noStrike">
                <a:solidFill>
                  <a:srgbClr val="0d0d0d"/>
                </a:solidFill>
                <a:highlight>
                  <a:srgbClr val="ffffff"/>
                </a:highlight>
                <a:latin typeface="Roboto"/>
                <a:ea typeface="Roboto"/>
              </a:rPr>
              <a:t>Find ud af hvad du har brugt penge på. Web app er ”gratis”. Database koster (selv i tomgang) </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89" name="Billede 2" descr=""/>
          <p:cNvPicPr/>
          <p:nvPr/>
        </p:nvPicPr>
        <p:blipFill>
          <a:blip r:embed="rId1"/>
          <a:stretch/>
        </p:blipFill>
        <p:spPr>
          <a:xfrm>
            <a:off x="1073160" y="1585440"/>
            <a:ext cx="6215760" cy="4537080"/>
          </a:xfrm>
          <a:prstGeom prst="rect">
            <a:avLst/>
          </a:prstGeom>
          <a:ln w="0">
            <a:noFill/>
          </a:ln>
        </p:spPr>
      </p:pic>
      <p:sp>
        <p:nvSpPr>
          <p:cNvPr id="290" name="Rektangel 3"/>
          <p:cNvSpPr/>
          <p:nvPr/>
        </p:nvSpPr>
        <p:spPr>
          <a:xfrm>
            <a:off x="3727440" y="5060880"/>
            <a:ext cx="729360" cy="832680"/>
          </a:xfrm>
          <a:prstGeom prst="rect">
            <a:avLst/>
          </a:prstGeom>
          <a:noFill/>
          <a:ln>
            <a:solidFill>
              <a:srgbClr val="b90000">
                <a:alpha val="99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Budget alert (1)</a:t>
            </a:r>
            <a:endParaRPr b="0" lang="en-US" sz="2400" spc="-1" strike="noStrike">
              <a:solidFill>
                <a:srgbClr val="000000"/>
              </a:solidFill>
              <a:latin typeface="Arial"/>
            </a:endParaRPr>
          </a:p>
        </p:txBody>
      </p:sp>
      <p:sp>
        <p:nvSpPr>
          <p:cNvPr id="292" name="PlaceHolder 2"/>
          <p:cNvSpPr>
            <a:spLocks noGrp="1"/>
          </p:cNvSpPr>
          <p:nvPr>
            <p:ph/>
          </p:nvPr>
        </p:nvSpPr>
        <p:spPr>
          <a:xfrm>
            <a:off x="604800" y="963360"/>
            <a:ext cx="7933680" cy="851040"/>
          </a:xfrm>
          <a:prstGeom prst="rect">
            <a:avLst/>
          </a:prstGeom>
          <a:noFill/>
          <a:ln w="0">
            <a:noFill/>
          </a:ln>
        </p:spPr>
        <p:txBody>
          <a:bodyPr lIns="90000" rIns="90000" tIns="91440" bIns="91440" anchor="t">
            <a:noAutofit/>
          </a:bodyPr>
          <a:p>
            <a:pPr indent="0">
              <a:lnSpc>
                <a:spcPct val="115000"/>
              </a:lnSpc>
              <a:spcBef>
                <a:spcPts val="1500"/>
              </a:spcBef>
              <a:buNone/>
              <a:tabLst>
                <a:tab algn="l" pos="0"/>
              </a:tabLst>
            </a:pPr>
            <a:r>
              <a:rPr b="0" lang="da" sz="1200" spc="-1" strike="noStrike">
                <a:solidFill>
                  <a:srgbClr val="0d0d0d"/>
                </a:solidFill>
                <a:highlight>
                  <a:srgbClr val="ffffff"/>
                </a:highlight>
                <a:latin typeface="Roboto"/>
                <a:ea typeface="Roboto"/>
              </a:rPr>
              <a:t>Klik på “Cost Management | Budgets” og og klik derefter på  “+ Add”</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93" name="Google Shape;283;p33" descr=""/>
          <p:cNvPicPr/>
          <p:nvPr/>
        </p:nvPicPr>
        <p:blipFill>
          <a:blip r:embed="rId1"/>
          <a:stretch/>
        </p:blipFill>
        <p:spPr>
          <a:xfrm>
            <a:off x="674280" y="1589040"/>
            <a:ext cx="5650560" cy="421560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Budget alert (2)</a:t>
            </a:r>
            <a:endParaRPr b="0" lang="en-US" sz="2400" spc="-1" strike="noStrike">
              <a:solidFill>
                <a:srgbClr val="000000"/>
              </a:solidFill>
              <a:latin typeface="Arial"/>
            </a:endParaRPr>
          </a:p>
        </p:txBody>
      </p:sp>
      <p:sp>
        <p:nvSpPr>
          <p:cNvPr id="295" name="PlaceHolder 2"/>
          <p:cNvSpPr>
            <a:spLocks noGrp="1"/>
          </p:cNvSpPr>
          <p:nvPr>
            <p:ph/>
          </p:nvPr>
        </p:nvSpPr>
        <p:spPr>
          <a:xfrm>
            <a:off x="604800" y="963360"/>
            <a:ext cx="7933680" cy="851040"/>
          </a:xfrm>
          <a:prstGeom prst="rect">
            <a:avLst/>
          </a:prstGeom>
          <a:noFill/>
          <a:ln w="0">
            <a:noFill/>
          </a:ln>
        </p:spPr>
        <p:txBody>
          <a:bodyPr lIns="90000" rIns="90000" tIns="91440" bIns="91440" anchor="t">
            <a:noAutofit/>
          </a:bodyPr>
          <a:p>
            <a:pPr indent="0">
              <a:lnSpc>
                <a:spcPct val="115000"/>
              </a:lnSpc>
              <a:spcBef>
                <a:spcPts val="1500"/>
              </a:spcBef>
              <a:buNone/>
              <a:tabLst>
                <a:tab algn="l" pos="0"/>
              </a:tabLst>
            </a:pPr>
            <a:r>
              <a:rPr b="0" lang="da" sz="1200" spc="-1" strike="noStrike">
                <a:solidFill>
                  <a:srgbClr val="0d0d0d"/>
                </a:solidFill>
                <a:highlight>
                  <a:srgbClr val="ffffff"/>
                </a:highlight>
                <a:latin typeface="Roboto"/>
                <a:ea typeface="Roboto"/>
              </a:rPr>
              <a:t>Vælg % del af budget der skal udløse advarsel (e-mail)</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96" name="Google Shape;290;p34" descr=""/>
          <p:cNvPicPr/>
          <p:nvPr/>
        </p:nvPicPr>
        <p:blipFill>
          <a:blip r:embed="rId1"/>
          <a:stretch/>
        </p:blipFill>
        <p:spPr>
          <a:xfrm>
            <a:off x="735840" y="1537560"/>
            <a:ext cx="6320160" cy="473724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Budget alert (3)</a:t>
            </a:r>
            <a:endParaRPr b="0" lang="en-US" sz="2400" spc="-1" strike="noStrike">
              <a:solidFill>
                <a:srgbClr val="000000"/>
              </a:solidFill>
              <a:latin typeface="Arial"/>
            </a:endParaRPr>
          </a:p>
        </p:txBody>
      </p:sp>
      <p:sp>
        <p:nvSpPr>
          <p:cNvPr id="298" name="PlaceHolder 2"/>
          <p:cNvSpPr>
            <a:spLocks noGrp="1"/>
          </p:cNvSpPr>
          <p:nvPr>
            <p:ph/>
          </p:nvPr>
        </p:nvSpPr>
        <p:spPr>
          <a:xfrm>
            <a:off x="604800" y="963360"/>
            <a:ext cx="7933680" cy="851040"/>
          </a:xfrm>
          <a:prstGeom prst="rect">
            <a:avLst/>
          </a:prstGeom>
          <a:noFill/>
          <a:ln w="0">
            <a:noFill/>
          </a:ln>
        </p:spPr>
        <p:txBody>
          <a:bodyPr lIns="90000" rIns="90000" tIns="91440" bIns="91440" anchor="t">
            <a:noAutofit/>
          </a:bodyPr>
          <a:p>
            <a:pPr indent="0">
              <a:lnSpc>
                <a:spcPct val="115000"/>
              </a:lnSpc>
              <a:spcBef>
                <a:spcPts val="1500"/>
              </a:spcBef>
              <a:buNone/>
              <a:tabLst>
                <a:tab algn="l" pos="0"/>
              </a:tabLst>
            </a:pPr>
            <a:r>
              <a:rPr b="0" lang="da" sz="1200" spc="-1" strike="noStrike">
                <a:solidFill>
                  <a:srgbClr val="0d0d0d"/>
                </a:solidFill>
                <a:highlight>
                  <a:srgbClr val="ffffff"/>
                </a:highlight>
                <a:latin typeface="Roboto"/>
                <a:ea typeface="Roboto"/>
              </a:rPr>
              <a:t>Oprettet alert</a:t>
            </a:r>
            <a:endParaRPr b="0" lang="en-US" sz="1200" spc="-1" strike="noStrike">
              <a:solidFill>
                <a:srgbClr val="000000"/>
              </a:solidFill>
              <a:latin typeface="Arial"/>
            </a:endParaRPr>
          </a:p>
          <a:p>
            <a:pPr indent="0">
              <a:lnSpc>
                <a:spcPct val="115000"/>
              </a:lnSpc>
              <a:spcBef>
                <a:spcPts val="1500"/>
              </a:spcBef>
              <a:buNone/>
              <a:tabLst>
                <a:tab algn="l" pos="0"/>
              </a:tabLst>
            </a:pPr>
            <a:endParaRPr b="0" lang="en-US" sz="165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299" name="Google Shape;297;p35" descr=""/>
          <p:cNvPicPr/>
          <p:nvPr/>
        </p:nvPicPr>
        <p:blipFill>
          <a:blip r:embed="rId1"/>
          <a:stretch/>
        </p:blipFill>
        <p:spPr>
          <a:xfrm>
            <a:off x="694800" y="1732320"/>
            <a:ext cx="8219880" cy="231948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Ændre workflow fil til at lytte på PR</a:t>
            </a:r>
            <a:endParaRPr b="0" lang="en-US" sz="2400" spc="-1" strike="noStrike">
              <a:solidFill>
                <a:srgbClr val="000000"/>
              </a:solidFill>
              <a:latin typeface="Arial"/>
            </a:endParaRPr>
          </a:p>
        </p:txBody>
      </p:sp>
      <p:sp>
        <p:nvSpPr>
          <p:cNvPr id="301" name="PlaceHolder 2"/>
          <p:cNvSpPr>
            <a:spLocks noGrp="1"/>
          </p:cNvSpPr>
          <p:nvPr>
            <p:ph/>
          </p:nvPr>
        </p:nvSpPr>
        <p:spPr>
          <a:xfrm>
            <a:off x="571680" y="1107000"/>
            <a:ext cx="7933680" cy="4628160"/>
          </a:xfrm>
          <a:prstGeom prst="rect">
            <a:avLst/>
          </a:prstGeom>
          <a:noFill/>
          <a:ln w="0">
            <a:noFill/>
          </a:ln>
        </p:spPr>
        <p:txBody>
          <a:bodyPr lIns="90000" rIns="90000" tIns="91440" bIns="91440" anchor="t">
            <a:noAutofit/>
          </a:bodyPr>
          <a:p>
            <a:pPr marL="457200" indent="-304920">
              <a:lnSpc>
                <a:spcPct val="115000"/>
              </a:lnSpc>
              <a:spcBef>
                <a:spcPts val="1500"/>
              </a:spcBef>
              <a:buClr>
                <a:srgbClr val="0d0d0d"/>
              </a:buClr>
              <a:buFont typeface="Roboto"/>
              <a:buChar char="●"/>
            </a:pPr>
            <a:r>
              <a:rPr b="0" lang="da-DK" sz="1200" spc="-1" strike="noStrike">
                <a:solidFill>
                  <a:srgbClr val="0d0d0d"/>
                </a:solidFill>
                <a:highlight>
                  <a:srgbClr val="ffffff"/>
                </a:highlight>
                <a:latin typeface="Roboto"/>
                <a:ea typeface="Roboto"/>
              </a:rPr>
              <a:t>Vi vil ikke trigge workflow når vi pusher til main</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0" lang="da-DK" sz="1200" spc="-1" strike="noStrike">
                <a:solidFill>
                  <a:srgbClr val="0d0d0d"/>
                </a:solidFill>
                <a:highlight>
                  <a:srgbClr val="ffffff"/>
                </a:highlight>
                <a:latin typeface="Roboto"/>
                <a:ea typeface="Roboto"/>
              </a:rPr>
              <a:t>Vi ændre .yml fil til at lytte på pull_request</a:t>
            </a:r>
            <a:br>
              <a:rPr sz="1200"/>
            </a:br>
            <a:br>
              <a:rPr sz="1200"/>
            </a:br>
            <a:br>
              <a:rPr sz="1200"/>
            </a:br>
            <a:br>
              <a:rPr sz="1200"/>
            </a:br>
            <a:br>
              <a:rPr sz="1200"/>
            </a:br>
            <a:br>
              <a:rPr sz="1200"/>
            </a:br>
            <a:br>
              <a:rPr sz="1200"/>
            </a:br>
            <a:br>
              <a:rPr sz="1200"/>
            </a:br>
            <a:br>
              <a:rPr sz="1200"/>
            </a:br>
            <a:r>
              <a:rPr b="0" lang="da-DK" sz="1200" spc="-1" strike="noStrike">
                <a:solidFill>
                  <a:srgbClr val="0d0d0d"/>
                </a:solidFill>
                <a:highlight>
                  <a:srgbClr val="ffffff"/>
                </a:highlight>
                <a:latin typeface="Roboto"/>
                <a:ea typeface="Roboto"/>
              </a:rPr>
              <a:t> </a:t>
            </a:r>
            <a:endParaRPr b="0" lang="en-US" sz="1200" spc="-1" strike="noStrike">
              <a:solidFill>
                <a:srgbClr val="000000"/>
              </a:solidFill>
              <a:latin typeface="Arial"/>
            </a:endParaRPr>
          </a:p>
          <a:p>
            <a:pPr marL="457200" indent="-304920">
              <a:lnSpc>
                <a:spcPct val="115000"/>
              </a:lnSpc>
              <a:buClr>
                <a:srgbClr val="0d0d0d"/>
              </a:buClr>
              <a:buFont typeface="Roboto"/>
              <a:buChar char="●"/>
            </a:pPr>
            <a:r>
              <a:rPr b="0" lang="da-DK" sz="1200" spc="-1" strike="noStrike">
                <a:solidFill>
                  <a:srgbClr val="0d0d0d"/>
                </a:solidFill>
                <a:highlight>
                  <a:srgbClr val="ffffff"/>
                </a:highlight>
                <a:latin typeface="Roboto"/>
                <a:ea typeface="Roboto"/>
              </a:rPr>
              <a:t>Workflow trigges når:</a:t>
            </a:r>
            <a:endParaRPr b="0" lang="en-US" sz="1200" spc="-1" strike="noStrike">
              <a:solidFill>
                <a:srgbClr val="000000"/>
              </a:solidFill>
              <a:latin typeface="Arial"/>
            </a:endParaRPr>
          </a:p>
          <a:p>
            <a:pPr lvl="1" marL="914400" indent="-304920">
              <a:lnSpc>
                <a:spcPct val="115000"/>
              </a:lnSpc>
              <a:buClr>
                <a:srgbClr val="0d0d0d"/>
              </a:buClr>
              <a:buFont typeface="Roboto"/>
              <a:buChar char="●"/>
            </a:pPr>
            <a:r>
              <a:rPr b="0" lang="da-DK" sz="1000" spc="-1" strike="noStrike">
                <a:solidFill>
                  <a:srgbClr val="0d0d0d"/>
                </a:solidFill>
                <a:highlight>
                  <a:srgbClr val="ffffff"/>
                </a:highlight>
                <a:latin typeface="Roboto"/>
                <a:ea typeface="Roboto"/>
              </a:rPr>
              <a:t>en PR oprettes (opened).</a:t>
            </a:r>
            <a:endParaRPr b="0" lang="en-US" sz="1000" spc="-1" strike="noStrike">
              <a:solidFill>
                <a:srgbClr val="000000"/>
              </a:solidFill>
              <a:latin typeface="Arial"/>
            </a:endParaRPr>
          </a:p>
          <a:p>
            <a:pPr lvl="1" marL="914400" indent="-304920">
              <a:lnSpc>
                <a:spcPct val="115000"/>
              </a:lnSpc>
              <a:buClr>
                <a:srgbClr val="0d0d0d"/>
              </a:buClr>
              <a:buFont typeface="Roboto"/>
              <a:buChar char="●"/>
            </a:pPr>
            <a:r>
              <a:rPr b="0" lang="da-DK" sz="1000" spc="-1" strike="noStrike">
                <a:solidFill>
                  <a:srgbClr val="0d0d0d"/>
                </a:solidFill>
                <a:highlight>
                  <a:srgbClr val="ffffff"/>
                </a:highlight>
                <a:latin typeface="Roboto"/>
                <a:ea typeface="Roboto"/>
              </a:rPr>
              <a:t>en lukket PR genåbnes (reopened).</a:t>
            </a:r>
            <a:endParaRPr b="0" lang="en-US" sz="1000" spc="-1" strike="noStrike">
              <a:solidFill>
                <a:srgbClr val="000000"/>
              </a:solidFill>
              <a:latin typeface="Arial"/>
            </a:endParaRPr>
          </a:p>
          <a:p>
            <a:pPr lvl="1" marL="914400" indent="-304920">
              <a:lnSpc>
                <a:spcPct val="115000"/>
              </a:lnSpc>
              <a:buClr>
                <a:srgbClr val="0d0d0d"/>
              </a:buClr>
              <a:buFont typeface="Roboto"/>
              <a:buChar char="●"/>
            </a:pPr>
            <a:r>
              <a:rPr b="0" lang="da-DK" sz="1000" spc="-1" strike="noStrike">
                <a:solidFill>
                  <a:srgbClr val="0d0d0d"/>
                </a:solidFill>
                <a:highlight>
                  <a:srgbClr val="ffffff"/>
                </a:highlight>
                <a:latin typeface="Roboto"/>
                <a:ea typeface="Roboto"/>
              </a:rPr>
              <a:t>nye commits pushes til en åben PR (synchronize).</a:t>
            </a:r>
            <a:endParaRPr b="0" lang="en-US" sz="1000" spc="-1" strike="noStrike">
              <a:solidFill>
                <a:srgbClr val="000000"/>
              </a:solidFill>
              <a:latin typeface="Arial"/>
            </a:endParaRPr>
          </a:p>
          <a:p>
            <a:pPr marL="457200" indent="-304920">
              <a:lnSpc>
                <a:spcPct val="115000"/>
              </a:lnSpc>
              <a:buClr>
                <a:srgbClr val="0d0d0d"/>
              </a:buClr>
              <a:buFont typeface="Roboto"/>
              <a:buChar char="●"/>
            </a:pPr>
            <a:r>
              <a:rPr b="0" lang="da-DK" sz="1200" spc="-1" strike="noStrike">
                <a:solidFill>
                  <a:srgbClr val="0d0d0d"/>
                </a:solidFill>
                <a:highlight>
                  <a:srgbClr val="ffffff"/>
                </a:highlight>
                <a:latin typeface="Roboto"/>
                <a:ea typeface="Roboto"/>
              </a:rPr>
              <a:t>Vi kan herefter oprette feaure branch i git, foretage ændringer og til sidst pushe til github feature branch</a:t>
            </a:r>
            <a:endParaRPr b="0" lang="en-US" sz="1200" spc="-1" strike="noStrike">
              <a:solidFill>
                <a:srgbClr val="000000"/>
              </a:solidFill>
              <a:latin typeface="Arial"/>
            </a:endParaRPr>
          </a:p>
          <a:p>
            <a:pPr indent="0">
              <a:lnSpc>
                <a:spcPct val="115000"/>
              </a:lnSpc>
              <a:spcBef>
                <a:spcPts val="1500"/>
              </a:spcBef>
              <a:spcAft>
                <a:spcPts val="1001"/>
              </a:spcAft>
              <a:buNone/>
              <a:tabLst>
                <a:tab algn="l" pos="0"/>
              </a:tabLst>
            </a:pPr>
            <a:endParaRPr b="0" lang="en-US" sz="1400" spc="-1" strike="noStrike">
              <a:solidFill>
                <a:srgbClr val="000000"/>
              </a:solidFill>
              <a:latin typeface="Arial"/>
            </a:endParaRPr>
          </a:p>
        </p:txBody>
      </p:sp>
      <p:pic>
        <p:nvPicPr>
          <p:cNvPr id="302" name="Billede 2" descr=""/>
          <p:cNvPicPr/>
          <p:nvPr/>
        </p:nvPicPr>
        <p:blipFill>
          <a:blip r:embed="rId1"/>
          <a:stretch/>
        </p:blipFill>
        <p:spPr>
          <a:xfrm>
            <a:off x="1165320" y="1938960"/>
            <a:ext cx="3155400" cy="153612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Opret feature branch og foretag ændringer</a:t>
            </a:r>
            <a:endParaRPr b="0" lang="en-US" sz="2400" spc="-1" strike="noStrike">
              <a:solidFill>
                <a:srgbClr val="000000"/>
              </a:solidFill>
              <a:latin typeface="Arial"/>
            </a:endParaRPr>
          </a:p>
        </p:txBody>
      </p:sp>
      <p:pic>
        <p:nvPicPr>
          <p:cNvPr id="304" name="Billede 6" descr=""/>
          <p:cNvPicPr/>
          <p:nvPr/>
        </p:nvPicPr>
        <p:blipFill>
          <a:blip r:embed="rId1"/>
          <a:stretch/>
        </p:blipFill>
        <p:spPr>
          <a:xfrm>
            <a:off x="571680" y="1130040"/>
            <a:ext cx="6301080" cy="1573560"/>
          </a:xfrm>
          <a:prstGeom prst="rect">
            <a:avLst/>
          </a:prstGeom>
          <a:ln w="0">
            <a:noFill/>
          </a:ln>
        </p:spPr>
      </p:pic>
      <p:sp>
        <p:nvSpPr>
          <p:cNvPr id="305" name="Tekstfelt 7"/>
          <p:cNvSpPr/>
          <p:nvPr/>
        </p:nvSpPr>
        <p:spPr>
          <a:xfrm>
            <a:off x="920160" y="2774160"/>
            <a:ext cx="207216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200" spc="-1" strike="noStrike">
                <a:solidFill>
                  <a:srgbClr val="000000"/>
                </a:solidFill>
                <a:latin typeface="Arial"/>
                <a:ea typeface="Arial"/>
              </a:rPr>
              <a:t>Tilføj ”Frankrig” til repository</a:t>
            </a:r>
            <a:endParaRPr b="0" lang="en-US" sz="1200" spc="-1" strike="noStrike">
              <a:solidFill>
                <a:srgbClr val="000000"/>
              </a:solidFill>
              <a:latin typeface="Arial"/>
            </a:endParaRPr>
          </a:p>
        </p:txBody>
      </p:sp>
      <p:pic>
        <p:nvPicPr>
          <p:cNvPr id="306" name="Billede 9" descr=""/>
          <p:cNvPicPr/>
          <p:nvPr/>
        </p:nvPicPr>
        <p:blipFill>
          <a:blip r:embed="rId2"/>
          <a:stretch/>
        </p:blipFill>
        <p:spPr>
          <a:xfrm>
            <a:off x="571680" y="3274920"/>
            <a:ext cx="6085080" cy="134892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Push feauture branch til GitHub</a:t>
            </a:r>
            <a:endParaRPr b="0" lang="en-US" sz="2400" spc="-1" strike="noStrike">
              <a:solidFill>
                <a:srgbClr val="000000"/>
              </a:solidFill>
              <a:latin typeface="Arial"/>
            </a:endParaRPr>
          </a:p>
        </p:txBody>
      </p:sp>
      <p:pic>
        <p:nvPicPr>
          <p:cNvPr id="308" name="Billede 2" descr=""/>
          <p:cNvPicPr/>
          <p:nvPr/>
        </p:nvPicPr>
        <p:blipFill>
          <a:blip r:embed="rId1"/>
          <a:stretch/>
        </p:blipFill>
        <p:spPr>
          <a:xfrm>
            <a:off x="470160" y="1657440"/>
            <a:ext cx="6262920" cy="3651120"/>
          </a:xfrm>
          <a:prstGeom prst="rect">
            <a:avLst/>
          </a:prstGeom>
          <a:ln w="0">
            <a:noFill/>
          </a:ln>
        </p:spPr>
      </p:pic>
      <p:pic>
        <p:nvPicPr>
          <p:cNvPr id="309" name="Billede 4" descr=""/>
          <p:cNvPicPr/>
          <p:nvPr/>
        </p:nvPicPr>
        <p:blipFill>
          <a:blip r:embed="rId2"/>
          <a:stretch/>
        </p:blipFill>
        <p:spPr>
          <a:xfrm>
            <a:off x="613800" y="983160"/>
            <a:ext cx="7469640" cy="442800"/>
          </a:xfrm>
          <a:prstGeom prst="rect">
            <a:avLst/>
          </a:prstGeom>
          <a:ln w="0">
            <a:noFill/>
          </a:ln>
        </p:spPr>
      </p:pic>
      <p:sp>
        <p:nvSpPr>
          <p:cNvPr id="310" name="Rektangel 5"/>
          <p:cNvSpPr/>
          <p:nvPr/>
        </p:nvSpPr>
        <p:spPr>
          <a:xfrm>
            <a:off x="5353200" y="2149920"/>
            <a:ext cx="1319400" cy="31428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1" name="Billede 3" descr=""/>
          <p:cNvPicPr/>
          <p:nvPr/>
        </p:nvPicPr>
        <p:blipFill>
          <a:blip r:embed="rId1"/>
          <a:stretch/>
        </p:blipFill>
        <p:spPr>
          <a:xfrm>
            <a:off x="723240" y="973800"/>
            <a:ext cx="7099920" cy="5145840"/>
          </a:xfrm>
          <a:prstGeom prst="rect">
            <a:avLst/>
          </a:prstGeom>
          <a:ln w="0">
            <a:noFill/>
          </a:ln>
        </p:spPr>
      </p:pic>
      <p:sp>
        <p:nvSpPr>
          <p:cNvPr id="312"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Push feauture branch til GitHub</a:t>
            </a:r>
            <a:endParaRPr b="0" lang="en-US" sz="2400" spc="-1" strike="noStrike">
              <a:solidFill>
                <a:srgbClr val="000000"/>
              </a:solidFill>
              <a:latin typeface="Arial"/>
            </a:endParaRPr>
          </a:p>
        </p:txBody>
      </p:sp>
      <p:sp>
        <p:nvSpPr>
          <p:cNvPr id="313" name="Rektangel 5"/>
          <p:cNvSpPr/>
          <p:nvPr/>
        </p:nvSpPr>
        <p:spPr>
          <a:xfrm>
            <a:off x="6207120" y="5726880"/>
            <a:ext cx="1616040" cy="31428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4" name="Billede 8" descr=""/>
          <p:cNvPicPr/>
          <p:nvPr/>
        </p:nvPicPr>
        <p:blipFill>
          <a:blip r:embed="rId1"/>
          <a:stretch/>
        </p:blipFill>
        <p:spPr>
          <a:xfrm>
            <a:off x="528120" y="945000"/>
            <a:ext cx="5870880" cy="5362200"/>
          </a:xfrm>
          <a:prstGeom prst="rect">
            <a:avLst/>
          </a:prstGeom>
          <a:ln w="0">
            <a:noFill/>
          </a:ln>
        </p:spPr>
      </p:pic>
      <p:sp>
        <p:nvSpPr>
          <p:cNvPr id="315"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Push feauture branch til GitHub</a:t>
            </a:r>
            <a:endParaRPr b="0" lang="en-US" sz="2400" spc="-1" strike="noStrike">
              <a:solidFill>
                <a:srgbClr val="000000"/>
              </a:solidFill>
              <a:latin typeface="Arial"/>
            </a:endParaRPr>
          </a:p>
        </p:txBody>
      </p:sp>
      <p:sp>
        <p:nvSpPr>
          <p:cNvPr id="316" name="Rektangel 5"/>
          <p:cNvSpPr/>
          <p:nvPr/>
        </p:nvSpPr>
        <p:spPr>
          <a:xfrm>
            <a:off x="3415320" y="3221280"/>
            <a:ext cx="1010520" cy="27360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
        <p:nvSpPr>
          <p:cNvPr id="317" name="Rektangel 4"/>
          <p:cNvSpPr/>
          <p:nvPr/>
        </p:nvSpPr>
        <p:spPr>
          <a:xfrm>
            <a:off x="1102680" y="4819680"/>
            <a:ext cx="4721760" cy="44820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
        <p:nvSpPr>
          <p:cNvPr id="318" name="Rektangel 6"/>
          <p:cNvSpPr/>
          <p:nvPr/>
        </p:nvSpPr>
        <p:spPr>
          <a:xfrm>
            <a:off x="1018440" y="5864040"/>
            <a:ext cx="1233720" cy="31428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9" name="Billede 2" descr=""/>
          <p:cNvPicPr/>
          <p:nvPr/>
        </p:nvPicPr>
        <p:blipFill>
          <a:blip r:embed="rId1"/>
          <a:stretch/>
        </p:blipFill>
        <p:spPr>
          <a:xfrm>
            <a:off x="514800" y="947880"/>
            <a:ext cx="8223120" cy="4723920"/>
          </a:xfrm>
          <a:prstGeom prst="rect">
            <a:avLst/>
          </a:prstGeom>
          <a:ln w="0">
            <a:noFill/>
          </a:ln>
        </p:spPr>
      </p:pic>
      <p:sp>
        <p:nvSpPr>
          <p:cNvPr id="320"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Push feauture branch til GitHub</a:t>
            </a:r>
            <a:endParaRPr b="0" lang="en-US" sz="2400" spc="-1" strike="noStrike">
              <a:solidFill>
                <a:srgbClr val="000000"/>
              </a:solidFill>
              <a:latin typeface="Arial"/>
            </a:endParaRPr>
          </a:p>
        </p:txBody>
      </p:sp>
      <p:sp>
        <p:nvSpPr>
          <p:cNvPr id="321" name="Rektangel 5"/>
          <p:cNvSpPr/>
          <p:nvPr/>
        </p:nvSpPr>
        <p:spPr>
          <a:xfrm>
            <a:off x="696240" y="5007600"/>
            <a:ext cx="1301400" cy="40536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2" name="Billede 3" descr=""/>
          <p:cNvPicPr/>
          <p:nvPr/>
        </p:nvPicPr>
        <p:blipFill>
          <a:blip r:embed="rId1"/>
          <a:stretch/>
        </p:blipFill>
        <p:spPr>
          <a:xfrm>
            <a:off x="571680" y="1053360"/>
            <a:ext cx="7183440" cy="5452920"/>
          </a:xfrm>
          <a:prstGeom prst="rect">
            <a:avLst/>
          </a:prstGeom>
          <a:ln w="0">
            <a:noFill/>
          </a:ln>
        </p:spPr>
      </p:pic>
      <p:sp>
        <p:nvSpPr>
          <p:cNvPr id="323"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Push feauture branch til GitHub</a:t>
            </a:r>
            <a:endParaRPr b="0" lang="en-US" sz="2400" spc="-1" strike="noStrike">
              <a:solidFill>
                <a:srgbClr val="000000"/>
              </a:solidFill>
              <a:latin typeface="Arial"/>
            </a:endParaRPr>
          </a:p>
        </p:txBody>
      </p:sp>
      <p:sp>
        <p:nvSpPr>
          <p:cNvPr id="324" name="Rektangel 5"/>
          <p:cNvSpPr/>
          <p:nvPr/>
        </p:nvSpPr>
        <p:spPr>
          <a:xfrm>
            <a:off x="571320" y="1416600"/>
            <a:ext cx="881280" cy="3445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
        <p:nvSpPr>
          <p:cNvPr id="325" name="Rektangel 1"/>
          <p:cNvSpPr/>
          <p:nvPr/>
        </p:nvSpPr>
        <p:spPr>
          <a:xfrm>
            <a:off x="1166040" y="5946480"/>
            <a:ext cx="3568680" cy="3877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6" name="Billede 16" descr=""/>
          <p:cNvPicPr/>
          <p:nvPr/>
        </p:nvPicPr>
        <p:blipFill>
          <a:blip r:embed="rId1"/>
          <a:stretch/>
        </p:blipFill>
        <p:spPr>
          <a:xfrm>
            <a:off x="571680" y="2936880"/>
            <a:ext cx="5225760" cy="2269800"/>
          </a:xfrm>
          <a:prstGeom prst="rect">
            <a:avLst/>
          </a:prstGeom>
          <a:ln w="0">
            <a:noFill/>
          </a:ln>
        </p:spPr>
      </p:pic>
      <p:pic>
        <p:nvPicPr>
          <p:cNvPr id="327" name="Billede 13" descr=""/>
          <p:cNvPicPr/>
          <p:nvPr/>
        </p:nvPicPr>
        <p:blipFill>
          <a:blip r:embed="rId2"/>
          <a:stretch/>
        </p:blipFill>
        <p:spPr>
          <a:xfrm>
            <a:off x="571680" y="2208240"/>
            <a:ext cx="5362200" cy="433440"/>
          </a:xfrm>
          <a:prstGeom prst="rect">
            <a:avLst/>
          </a:prstGeom>
          <a:ln w="0">
            <a:noFill/>
          </a:ln>
        </p:spPr>
      </p:pic>
      <p:sp>
        <p:nvSpPr>
          <p:cNvPr id="328" name="PlaceHolder 1"/>
          <p:cNvSpPr>
            <a:spLocks noGrp="1"/>
          </p:cNvSpPr>
          <p:nvPr>
            <p:ph type="title"/>
          </p:nvPr>
        </p:nvSpPr>
        <p:spPr>
          <a:xfrm>
            <a:off x="571680" y="149400"/>
            <a:ext cx="8000280" cy="602640"/>
          </a:xfrm>
          <a:prstGeom prst="rect">
            <a:avLst/>
          </a:prstGeom>
          <a:noFill/>
          <a:ln w="0">
            <a:noFill/>
          </a:ln>
        </p:spPr>
        <p:txBody>
          <a:bodyPr lIns="90000" rIns="90000" tIns="91440" bIns="91440" anchor="b">
            <a:noAutofit/>
          </a:bodyPr>
          <a:p>
            <a:pPr indent="0">
              <a:lnSpc>
                <a:spcPct val="100000"/>
              </a:lnSpc>
              <a:buNone/>
              <a:tabLst>
                <a:tab algn="l" pos="0"/>
              </a:tabLst>
            </a:pPr>
            <a:r>
              <a:rPr b="0" lang="da" sz="2400" spc="-1" strike="noStrike">
                <a:solidFill>
                  <a:schemeClr val="dk2"/>
                </a:solidFill>
                <a:latin typeface="Verdana"/>
                <a:ea typeface="Verdana"/>
              </a:rPr>
              <a:t>Slet feauture branch GitHub og git</a:t>
            </a:r>
            <a:endParaRPr b="0" lang="en-US" sz="2400" spc="-1" strike="noStrike">
              <a:solidFill>
                <a:srgbClr val="000000"/>
              </a:solidFill>
              <a:latin typeface="Arial"/>
            </a:endParaRPr>
          </a:p>
        </p:txBody>
      </p:sp>
      <p:sp>
        <p:nvSpPr>
          <p:cNvPr id="329" name="Rektangel 5"/>
          <p:cNvSpPr/>
          <p:nvPr/>
        </p:nvSpPr>
        <p:spPr>
          <a:xfrm>
            <a:off x="4572000" y="2353680"/>
            <a:ext cx="1361880" cy="3445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pic>
        <p:nvPicPr>
          <p:cNvPr id="330" name="Billede 6" descr=""/>
          <p:cNvPicPr/>
          <p:nvPr/>
        </p:nvPicPr>
        <p:blipFill>
          <a:blip r:embed="rId3"/>
          <a:stretch/>
        </p:blipFill>
        <p:spPr>
          <a:xfrm>
            <a:off x="653400" y="1297800"/>
            <a:ext cx="3536280" cy="652680"/>
          </a:xfrm>
          <a:prstGeom prst="rect">
            <a:avLst/>
          </a:prstGeom>
          <a:ln w="0">
            <a:noFill/>
          </a:ln>
        </p:spPr>
      </p:pic>
      <p:sp>
        <p:nvSpPr>
          <p:cNvPr id="331" name="Tekstfelt 7"/>
          <p:cNvSpPr/>
          <p:nvPr/>
        </p:nvSpPr>
        <p:spPr>
          <a:xfrm>
            <a:off x="546120" y="1051560"/>
            <a:ext cx="182376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Delete remote feature branch</a:t>
            </a:r>
            <a:endParaRPr b="0" lang="en-US" sz="1000" spc="-1" strike="noStrike">
              <a:solidFill>
                <a:srgbClr val="000000"/>
              </a:solidFill>
              <a:latin typeface="Arial"/>
            </a:endParaRPr>
          </a:p>
        </p:txBody>
      </p:sp>
      <p:sp>
        <p:nvSpPr>
          <p:cNvPr id="332" name="Tekstfelt 14"/>
          <p:cNvSpPr/>
          <p:nvPr/>
        </p:nvSpPr>
        <p:spPr>
          <a:xfrm>
            <a:off x="546120" y="1951560"/>
            <a:ext cx="168948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Delete local feature branch</a:t>
            </a:r>
            <a:endParaRPr b="0" lang="en-US" sz="1000" spc="-1" strike="noStrike">
              <a:solidFill>
                <a:srgbClr val="000000"/>
              </a:solidFill>
              <a:latin typeface="Arial"/>
            </a:endParaRPr>
          </a:p>
        </p:txBody>
      </p:sp>
      <p:sp>
        <p:nvSpPr>
          <p:cNvPr id="333" name="Tekstfelt 17"/>
          <p:cNvSpPr/>
          <p:nvPr/>
        </p:nvSpPr>
        <p:spPr>
          <a:xfrm>
            <a:off x="506520" y="2727360"/>
            <a:ext cx="229284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Switch to main branch – and try again</a:t>
            </a:r>
            <a:endParaRPr b="0" lang="en-US" sz="1000" spc="-1" strike="noStrike">
              <a:solidFill>
                <a:srgbClr val="000000"/>
              </a:solidFill>
              <a:latin typeface="Arial"/>
            </a:endParaRPr>
          </a:p>
        </p:txBody>
      </p:sp>
      <p:sp>
        <p:nvSpPr>
          <p:cNvPr id="334" name="Tekstfelt 18"/>
          <p:cNvSpPr/>
          <p:nvPr/>
        </p:nvSpPr>
        <p:spPr>
          <a:xfrm>
            <a:off x="444960" y="5346360"/>
            <a:ext cx="88344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000" spc="-1" strike="noStrike">
                <a:solidFill>
                  <a:srgbClr val="000000"/>
                </a:solidFill>
                <a:latin typeface="Arial"/>
                <a:ea typeface="Arial"/>
              </a:rPr>
              <a:t>Force delete</a:t>
            </a:r>
            <a:endParaRPr b="0" lang="en-US" sz="1000" spc="-1" strike="noStrike">
              <a:solidFill>
                <a:srgbClr val="000000"/>
              </a:solidFill>
              <a:latin typeface="Arial"/>
            </a:endParaRPr>
          </a:p>
        </p:txBody>
      </p:sp>
      <p:pic>
        <p:nvPicPr>
          <p:cNvPr id="335" name="Billede 20" descr=""/>
          <p:cNvPicPr/>
          <p:nvPr/>
        </p:nvPicPr>
        <p:blipFill>
          <a:blip r:embed="rId4"/>
          <a:stretch/>
        </p:blipFill>
        <p:spPr>
          <a:xfrm>
            <a:off x="520560" y="5636520"/>
            <a:ext cx="3802320" cy="461520"/>
          </a:xfrm>
          <a:prstGeom prst="rect">
            <a:avLst/>
          </a:prstGeom>
          <a:ln w="0">
            <a:noFill/>
          </a:ln>
        </p:spPr>
      </p:pic>
      <p:sp>
        <p:nvSpPr>
          <p:cNvPr id="336" name="Rektangel 21"/>
          <p:cNvSpPr/>
          <p:nvPr/>
        </p:nvSpPr>
        <p:spPr>
          <a:xfrm>
            <a:off x="3259440" y="4944600"/>
            <a:ext cx="1366560" cy="344520"/>
          </a:xfrm>
          <a:prstGeom prst="rect">
            <a:avLst/>
          </a:prstGeom>
          <a:noFill/>
          <a:ln>
            <a:solidFill>
              <a:srgbClr val="b9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da-DK" sz="1400" spc="-1" strike="noStrike">
              <a:solidFill>
                <a:schemeClr val="lt1"/>
              </a:solidFill>
              <a:latin typeface="Arial"/>
              <a:ea typeface="Arial"/>
            </a:endParaRPr>
          </a:p>
        </p:txBody>
      </p:sp>
      <p:sp>
        <p:nvSpPr>
          <p:cNvPr id="337" name="Tekstfelt 1"/>
          <p:cNvSpPr/>
          <p:nvPr/>
        </p:nvSpPr>
        <p:spPr>
          <a:xfrm>
            <a:off x="5838840" y="1600200"/>
            <a:ext cx="2161800" cy="4546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200" spc="-1" strike="noStrike">
                <a:solidFill>
                  <a:srgbClr val="000000"/>
                </a:solidFill>
                <a:latin typeface="Arial"/>
                <a:ea typeface="Arial"/>
              </a:rPr>
              <a:t>Kan ikke slette, da vi er på </a:t>
            </a:r>
            <a:endParaRPr b="0" lang="en-US" sz="1200" spc="-1" strike="noStrike">
              <a:solidFill>
                <a:srgbClr val="000000"/>
              </a:solidFill>
              <a:latin typeface="Arial"/>
            </a:endParaRPr>
          </a:p>
          <a:p>
            <a:pPr>
              <a:lnSpc>
                <a:spcPct val="100000"/>
              </a:lnSpc>
            </a:pPr>
            <a:r>
              <a:rPr b="0" lang="da-DK" sz="1200" spc="-1" strike="noStrike">
                <a:solidFill>
                  <a:srgbClr val="000000"/>
                </a:solidFill>
                <a:latin typeface="Arial"/>
                <a:ea typeface="Arial"/>
              </a:rPr>
              <a:t>den branch vi prøver at slette</a:t>
            </a:r>
            <a:endParaRPr b="0" lang="en-US" sz="1200" spc="-1" strike="noStrike">
              <a:solidFill>
                <a:srgbClr val="000000"/>
              </a:solidFill>
              <a:latin typeface="Arial"/>
            </a:endParaRPr>
          </a:p>
        </p:txBody>
      </p:sp>
      <p:sp>
        <p:nvSpPr>
          <p:cNvPr id="338" name="Tekstfelt 2"/>
          <p:cNvSpPr/>
          <p:nvPr/>
        </p:nvSpPr>
        <p:spPr>
          <a:xfrm>
            <a:off x="5943600" y="4071240"/>
            <a:ext cx="100260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200" spc="-1" strike="noStrike">
                <a:solidFill>
                  <a:srgbClr val="000000"/>
                </a:solidFill>
                <a:latin typeface="Arial"/>
                <a:ea typeface="Arial"/>
              </a:rPr>
              <a:t>Skift til main</a:t>
            </a:r>
            <a:endParaRPr b="0" lang="en-US" sz="1200" spc="-1" strike="noStrike">
              <a:solidFill>
                <a:srgbClr val="000000"/>
              </a:solidFill>
              <a:latin typeface="Arial"/>
            </a:endParaRPr>
          </a:p>
        </p:txBody>
      </p:sp>
      <p:sp>
        <p:nvSpPr>
          <p:cNvPr id="339" name="Tekstfelt 3"/>
          <p:cNvSpPr/>
          <p:nvPr/>
        </p:nvSpPr>
        <p:spPr>
          <a:xfrm>
            <a:off x="5943600" y="5442840"/>
            <a:ext cx="1165680" cy="2721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da-DK" sz="1200" spc="-1" strike="noStrike">
                <a:solidFill>
                  <a:srgbClr val="000000"/>
                </a:solidFill>
                <a:latin typeface="Arial"/>
                <a:ea typeface="Arial"/>
              </a:rPr>
              <a:t>Slet med force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B379A91F572D48A135D73778E27123" ma:contentTypeVersion="13" ma:contentTypeDescription="Create a new document." ma:contentTypeScope="" ma:versionID="a629960d7dbed88256a97dea7cee34c4">
  <xsd:schema xmlns:xsd="http://www.w3.org/2001/XMLSchema" xmlns:xs="http://www.w3.org/2001/XMLSchema" xmlns:p="http://schemas.microsoft.com/office/2006/metadata/properties" xmlns:ns2="9173dae8-59b0-4ce1-ba0b-93f7bd5919c4" xmlns:ns3="031b0fd4-89d5-40db-b87a-b08ff4592e00" targetNamespace="http://schemas.microsoft.com/office/2006/metadata/properties" ma:root="true" ma:fieldsID="ef7964a4eef4bea59961e001e46e134d" ns2:_="" ns3:_="">
    <xsd:import namespace="9173dae8-59b0-4ce1-ba0b-93f7bd5919c4"/>
    <xsd:import namespace="031b0fd4-89d5-40db-b87a-b08ff4592e0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73dae8-59b0-4ce1-ba0b-93f7bd5919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ledmærker" ma:readOnly="false" ma:fieldId="{5cf76f15-5ced-4ddc-b409-7134ff3c332f}" ma:taxonomyMulti="true" ma:sspId="61593edc-fe69-4ff2-86d1-67b90c929ed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31b0fd4-89d5-40db-b87a-b08ff4592e0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8e2d8a83-c15e-4035-84a4-5a550b7828c5}" ma:internalName="TaxCatchAll" ma:showField="CatchAllData" ma:web="031b0fd4-89d5-40db-b87a-b08ff4592e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Indholds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31b0fd4-89d5-40db-b87a-b08ff4592e00" xsi:nil="true"/>
    <lcf76f155ced4ddcb4097134ff3c332f xmlns="9173dae8-59b0-4ce1-ba0b-93f7bd5919c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F5FAECF-73C7-40F0-AC1C-5167492536E5}"/>
</file>

<file path=customXml/itemProps2.xml><?xml version="1.0" encoding="utf-8"?>
<ds:datastoreItem xmlns:ds="http://schemas.openxmlformats.org/officeDocument/2006/customXml" ds:itemID="{9F0F5E14-5EBA-4E62-9D87-89D38CA5DAA1}">
  <ds:schemaRefs>
    <ds:schemaRef ds:uri="http://schemas.microsoft.com/office/2006/metadata/properties"/>
    <ds:schemaRef ds:uri="http://schemas.microsoft.com/office/infopath/2007/PartnerControls"/>
    <ds:schemaRef ds:uri="17caefa8-d5c8-44a8-bd5f-5212b7321f90"/>
    <ds:schemaRef ds:uri="50290dc8-a661-4268-814f-4ecf93db03a1"/>
  </ds:schemaRefs>
</ds:datastoreItem>
</file>

<file path=customXml/itemProps3.xml><?xml version="1.0" encoding="utf-8"?>
<ds:datastoreItem xmlns:ds="http://schemas.openxmlformats.org/officeDocument/2006/customXml" ds:itemID="{6BB917CE-663E-4C32-A97C-281D18CA2E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4268</TotalTime>
  <Application>LibreOffice/7.5.3.2$MacOSX_AARCH64 LibreOffice_project/9f56dff12ba03b9acd7730a5a481eea045e468f3</Application>
  <AppVersion>15.0000</AppVersion>
  <Words>2555</Words>
  <Paragraphs>256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Mads Nyborg</dc:creator>
  <dc:description/>
  <dc:language>en-US</dc:language>
  <cp:lastModifiedBy/>
  <dcterms:modified xsi:type="dcterms:W3CDTF">2025-09-29T10:19:40Z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0x010100E6B379A91F572D48A135D73778E27123</vt:lpwstr>
  </property>
  <property fmtid="{D5CDD505-2E9C-101B-9397-08002B2CF9AE}" pid="4" name="MediaServiceImageTags">
    <vt:lpwstr/>
  </property>
  <property fmtid="{D5CDD505-2E9C-101B-9397-08002B2CF9AE}" pid="5" name="Notes">
    <vt:i4>47</vt:i4>
  </property>
  <property fmtid="{D5CDD505-2E9C-101B-9397-08002B2CF9AE}" pid="6" name="Order">
    <vt:r8>229300</vt:r8>
  </property>
  <property fmtid="{D5CDD505-2E9C-101B-9397-08002B2CF9AE}" pid="7" name="PresentationFormat">
    <vt:lpwstr>Skærmshow (4:3)</vt:lpwstr>
  </property>
  <property fmtid="{D5CDD505-2E9C-101B-9397-08002B2CF9AE}" pid="8" name="Slides">
    <vt:i4>47</vt:i4>
  </property>
  <property fmtid="{D5CDD505-2E9C-101B-9397-08002B2CF9AE}" pid="9" name="TemplateUrl">
    <vt:lpwstr/>
  </property>
  <property fmtid="{D5CDD505-2E9C-101B-9397-08002B2CF9AE}" pid="10" name="TriggerFlowInfo">
    <vt:lpwstr/>
  </property>
  <property fmtid="{D5CDD505-2E9C-101B-9397-08002B2CF9AE}" pid="11" name="_ExtendedDescription">
    <vt:lpwstr/>
  </property>
  <property fmtid="{D5CDD505-2E9C-101B-9397-08002B2CF9AE}" pid="12" name="_SharedFileIndex">
    <vt:lpwstr/>
  </property>
  <property fmtid="{D5CDD505-2E9C-101B-9397-08002B2CF9AE}" pid="13" name="_SourceUrl">
    <vt:lpwstr/>
  </property>
  <property fmtid="{D5CDD505-2E9C-101B-9397-08002B2CF9AE}" pid="14" name="xd_ProgID">
    <vt:lpwstr/>
  </property>
  <property fmtid="{D5CDD505-2E9C-101B-9397-08002B2CF9AE}" pid="15" name="xd_Signature">
    <vt:bool>0</vt:bool>
  </property>
</Properties>
</file>